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336" r:id="rId2"/>
    <p:sldId id="332" r:id="rId3"/>
    <p:sldId id="261" r:id="rId4"/>
    <p:sldId id="259" r:id="rId5"/>
    <p:sldId id="266" r:id="rId6"/>
    <p:sldId id="299" r:id="rId7"/>
    <p:sldId id="263" r:id="rId8"/>
    <p:sldId id="341" r:id="rId9"/>
    <p:sldId id="300" r:id="rId10"/>
    <p:sldId id="285" r:id="rId11"/>
    <p:sldId id="287" r:id="rId12"/>
    <p:sldId id="342" r:id="rId13"/>
    <p:sldId id="343" r:id="rId14"/>
    <p:sldId id="344" r:id="rId15"/>
    <p:sldId id="271" r:id="rId16"/>
    <p:sldId id="272" r:id="rId17"/>
    <p:sldId id="338" r:id="rId18"/>
    <p:sldId id="304" r:id="rId19"/>
    <p:sldId id="354" r:id="rId20"/>
    <p:sldId id="273" r:id="rId21"/>
    <p:sldId id="355" r:id="rId22"/>
    <p:sldId id="305" r:id="rId23"/>
    <p:sldId id="326" r:id="rId24"/>
    <p:sldId id="346" r:id="rId25"/>
    <p:sldId id="293" r:id="rId26"/>
    <p:sldId id="349" r:id="rId27"/>
    <p:sldId id="353" r:id="rId28"/>
    <p:sldId id="350" r:id="rId29"/>
    <p:sldId id="348" r:id="rId30"/>
    <p:sldId id="351" r:id="rId31"/>
    <p:sldId id="333" r:id="rId32"/>
    <p:sldId id="339" r:id="rId33"/>
  </p:sldIdLst>
  <p:sldSz cx="9144000" cy="6858000" type="screen4x3"/>
  <p:notesSz cx="6858000" cy="9144000"/>
  <p:custDataLst>
    <p:tags r:id="rId36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88"/>
    <p:restoredTop sz="94659"/>
  </p:normalViewPr>
  <p:slideViewPr>
    <p:cSldViewPr>
      <p:cViewPr varScale="1">
        <p:scale>
          <a:sx n="105" d="100"/>
          <a:sy n="105" d="100"/>
        </p:scale>
        <p:origin x="156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97" d="100"/>
        <a:sy n="197" d="100"/>
      </p:scale>
      <p:origin x="0" y="23840"/>
    </p:cViewPr>
  </p:sorterViewPr>
  <p:notesViewPr>
    <p:cSldViewPr>
      <p:cViewPr varScale="1">
        <p:scale>
          <a:sx n="91" d="100"/>
          <a:sy n="91" d="100"/>
        </p:scale>
        <p:origin x="-1800" y="-11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3DE9F0A5-4223-7C9D-B8CE-170C05D8453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pitchFamily="-109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F4434928-86A5-6FD7-98EA-408CF210AD1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pitchFamily="-109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4276" name="Rectangle 4">
            <a:extLst>
              <a:ext uri="{FF2B5EF4-FFF2-40B4-BE49-F238E27FC236}">
                <a16:creationId xmlns:a16="http://schemas.microsoft.com/office/drawing/2014/main" id="{AF8C0B69-297D-E880-6EDF-502A2493F6C6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pitchFamily="-109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4277" name="Rectangle 5">
            <a:extLst>
              <a:ext uri="{FF2B5EF4-FFF2-40B4-BE49-F238E27FC236}">
                <a16:creationId xmlns:a16="http://schemas.microsoft.com/office/drawing/2014/main" id="{2BBD2D93-0A47-857D-9667-85BD5445740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B19F9FD-27D7-1843-82FA-B911CCEAB5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A209563A-8134-C140-16F6-A74F6C56EF6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pitchFamily="-109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86545310-4384-5937-BBCC-3E65DDC2CAC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pitchFamily="-109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A81BA148-A7C2-46AE-6DB2-E0EBFAC365E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E34B9FAC-F0EF-8D09-C957-02B4A5A57DE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72E06AF7-DDDA-4CA8-CBFE-D59CCB6307D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pitchFamily="-109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27F1C366-39B9-37B8-B259-CCD438271D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2D9118D-0BE1-1F48-A7BB-C334AA7760B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24" charset="0"/>
        <a:ea typeface="ＭＳ Ｐゴシック" pitchFamily="24" charset="-128"/>
        <a:cs typeface="ＭＳ Ｐゴシック" pitchFamily="2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24" charset="0"/>
        <a:ea typeface="ＭＳ Ｐゴシック" pitchFamily="2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24" charset="0"/>
        <a:ea typeface="ＭＳ Ｐゴシック" pitchFamily="2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24" charset="0"/>
        <a:ea typeface="ＭＳ Ｐゴシック" pitchFamily="2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24" charset="0"/>
        <a:ea typeface="ＭＳ Ｐゴシック" pitchFamily="2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>
            <a:extLst>
              <a:ext uri="{FF2B5EF4-FFF2-40B4-BE49-F238E27FC236}">
                <a16:creationId xmlns:a16="http://schemas.microsoft.com/office/drawing/2014/main" id="{F6BF65B6-7AF2-2392-FE1E-707BB9611A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fld id="{A7992E50-EA6A-9C42-BBB8-5009FDE4FE16}" type="slidenum">
              <a:rPr lang="en-US" altLang="en-US" sz="1200" smtClean="0"/>
              <a:pPr/>
              <a:t>2</a:t>
            </a:fld>
            <a:endParaRPr lang="en-US" altLang="en-US" sz="1200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47E7653A-1F74-5FEF-EB4A-F88D1D0195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469E0C06-3079-713B-F0C7-98EB55F3AE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" pitchFamily="2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>
            <a:extLst>
              <a:ext uri="{FF2B5EF4-FFF2-40B4-BE49-F238E27FC236}">
                <a16:creationId xmlns:a16="http://schemas.microsoft.com/office/drawing/2014/main" id="{D02DE1F5-3C06-DC32-B18E-ED5721C2CE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fld id="{2F49E0C6-2541-B841-B419-AE6A037C390A}" type="slidenum">
              <a:rPr lang="en-US" altLang="en-US" sz="1200" smtClean="0"/>
              <a:pPr/>
              <a:t>3</a:t>
            </a:fld>
            <a:endParaRPr lang="en-US" altLang="en-US" sz="1200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11395E75-3E15-CEBF-3384-E173C5D892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626A1A3E-5F4A-B8F1-A1B9-F8C881C54C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" pitchFamily="2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9B9D47C4-CAD4-1F71-AF37-C039FFECF5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fld id="{DF42E527-445D-BC47-8D02-02E7E334D8FA}" type="slidenum">
              <a:rPr lang="en-US" altLang="en-US" sz="1200" smtClean="0"/>
              <a:pPr/>
              <a:t>4</a:t>
            </a:fld>
            <a:endParaRPr lang="en-US" altLang="en-US" sz="1200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61A1CC21-4F74-D894-F8AF-D9F3122FCB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321D648A-5675-ED29-E9E4-3106E93ADE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" pitchFamily="2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50A91923-9499-5312-9681-5AB6D831C4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fld id="{07026809-26B4-D442-90EC-F5C42597F6FB}" type="slidenum">
              <a:rPr lang="en-US" altLang="en-US" sz="1200" smtClean="0"/>
              <a:pPr/>
              <a:t>5</a:t>
            </a:fld>
            <a:endParaRPr lang="en-US" altLang="en-US" sz="1200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ADF1FB87-8459-30D1-43E8-1A2286936F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A0F584F-363E-BA31-929C-A094CE0EEA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" pitchFamily="2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0F694529-232F-8984-ACE4-7DEC13DC06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fld id="{7B1039AA-7E7A-2F4D-8A05-B69B7D2FCDBF}" type="slidenum">
              <a:rPr lang="en-US" altLang="en-US" sz="1200" smtClean="0"/>
              <a:pPr/>
              <a:t>6</a:t>
            </a:fld>
            <a:endParaRPr lang="en-US" altLang="en-US" sz="1200"/>
          </a:p>
        </p:txBody>
      </p:sp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0A0F7235-4E01-BB9A-8C9F-4F2F168F3C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03290205-C46B-7E86-3D73-87CD4D807B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" pitchFamily="2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5958A938-3C57-1E24-5EA2-237D870400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fld id="{DC0DDCA3-E59D-6F40-8322-284FA0CF9F2F}" type="slidenum">
              <a:rPr lang="en-US" altLang="en-US" sz="1200" smtClean="0"/>
              <a:pPr/>
              <a:t>7</a:t>
            </a:fld>
            <a:endParaRPr lang="en-US" altLang="en-US" sz="1200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414E32B9-50A2-B4E7-6A94-9399A80DAF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E739030B-2EE6-F4EA-6030-1ADD68C2B3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" pitchFamily="2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06BB9DD0-559F-9A04-4BC2-AFA61A18D3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fld id="{612FF7A7-8E5C-8A41-8038-4F4290E7D603}" type="slidenum">
              <a:rPr lang="en-US" altLang="en-US" sz="1200" smtClean="0"/>
              <a:pPr/>
              <a:t>9</a:t>
            </a:fld>
            <a:endParaRPr lang="en-US" altLang="en-US" sz="1200"/>
          </a:p>
        </p:txBody>
      </p:sp>
      <p:sp>
        <p:nvSpPr>
          <p:cNvPr id="30722" name="Rectangle 1026">
            <a:extLst>
              <a:ext uri="{FF2B5EF4-FFF2-40B4-BE49-F238E27FC236}">
                <a16:creationId xmlns:a16="http://schemas.microsoft.com/office/drawing/2014/main" id="{C4876E31-E60D-4DC0-2AF5-02F2FC849D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1027">
            <a:extLst>
              <a:ext uri="{FF2B5EF4-FFF2-40B4-BE49-F238E27FC236}">
                <a16:creationId xmlns:a16="http://schemas.microsoft.com/office/drawing/2014/main" id="{4BB9D06B-8108-AEDE-EEC2-5D85412F6B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" pitchFamily="2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7FAD0FC7-5FF0-619E-1F33-5D59B654CC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fld id="{35ED385E-C754-AA47-B0BD-D0FD9ADB624C}" type="slidenum">
              <a:rPr lang="en-US" altLang="en-US" sz="1200" smtClean="0"/>
              <a:pPr/>
              <a:t>10</a:t>
            </a:fld>
            <a:endParaRPr lang="en-US" altLang="en-US" sz="1200"/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CB24A1C8-C465-00AC-6B3F-433A81363D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2BAA0005-179C-2346-3454-1EC2A21764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" pitchFamily="2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E1B77DEC-382F-1CF6-C3BA-DFACAC05B2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fld id="{83D0EEB7-1686-6E4B-A232-F5CE6D2ACE30}" type="slidenum">
              <a:rPr lang="en-US" altLang="en-US" sz="1200" smtClean="0"/>
              <a:pPr/>
              <a:t>11</a:t>
            </a:fld>
            <a:endParaRPr lang="en-US" altLang="en-US" sz="1200"/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59B191D3-3587-DC73-5D41-E617F4F3F7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AD72AB6B-AEB7-D537-AF47-962CC34594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" pitchFamily="2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70C0A789-8904-CE48-97BD-D0F4049547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fld id="{DDAC4CFE-604B-2E43-BC3D-829A1547F5C0}" type="slidenum">
              <a:rPr lang="en-US" altLang="en-US" sz="1200" smtClean="0"/>
              <a:pPr/>
              <a:t>15</a:t>
            </a:fld>
            <a:endParaRPr lang="en-US" altLang="en-US" sz="1200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34373DDE-9A91-DDBA-E0CD-1AC8A3E281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19E2B64-5675-80A6-68F5-627F4B97C9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" pitchFamily="2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7A521F2D-5E7E-A975-53B7-8A825713E4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fld id="{00C13BC8-D46F-7547-B146-6822AF8FD232}" type="slidenum">
              <a:rPr lang="en-US" altLang="en-US" sz="1200" smtClean="0"/>
              <a:pPr/>
              <a:t>16</a:t>
            </a:fld>
            <a:endParaRPr lang="en-US" altLang="en-US" sz="1200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C837BC65-24ED-ACEF-63F2-7C38F2EA35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B1CD3023-E285-DCC2-3C2F-4063D9B486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" pitchFamily="2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ADF65D64-91C6-D36F-5164-B06351A86E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fld id="{21198B38-3E04-D746-A96C-A11A42F1DFCE}" type="slidenum">
              <a:rPr lang="en-US" altLang="en-US" sz="1200" smtClean="0"/>
              <a:pPr/>
              <a:t>18</a:t>
            </a:fld>
            <a:endParaRPr lang="en-US" altLang="en-US" sz="1200"/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2A60BECF-10F4-65D4-517B-4D610DE9D2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2D258790-C92F-2650-5B67-FC7F9CECFF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" pitchFamily="2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>
            <a:extLst>
              <a:ext uri="{FF2B5EF4-FFF2-40B4-BE49-F238E27FC236}">
                <a16:creationId xmlns:a16="http://schemas.microsoft.com/office/drawing/2014/main" id="{BA2DDECE-D3A7-3E5D-506A-7E04AC7FDE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fld id="{3ABDA74C-D356-EA4F-8AEC-8627980E0C7A}" type="slidenum">
              <a:rPr lang="en-US" altLang="en-US" sz="1200" smtClean="0"/>
              <a:pPr/>
              <a:t>21</a:t>
            </a:fld>
            <a:endParaRPr lang="en-US" altLang="en-US" sz="1200"/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4BE3BA60-9BD4-5AA0-03F2-CF0E8FCF0F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F1060E17-3AB3-0579-5599-D45E550AD1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" pitchFamily="2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>
            <a:extLst>
              <a:ext uri="{FF2B5EF4-FFF2-40B4-BE49-F238E27FC236}">
                <a16:creationId xmlns:a16="http://schemas.microsoft.com/office/drawing/2014/main" id="{11D7B7EF-0251-92FD-AAD1-3AFAAC0712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fld id="{9A30B296-BA68-7245-8EAD-1156AA89B0D8}" type="slidenum">
              <a:rPr lang="en-US" altLang="en-US" sz="1200" smtClean="0"/>
              <a:pPr/>
              <a:t>22</a:t>
            </a:fld>
            <a:endParaRPr lang="en-US" altLang="en-US" sz="1200"/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E2AE9744-4DC6-963B-1B20-37F28B3304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BC296B60-9562-1D9F-D791-542ECE5AC7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" pitchFamily="2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59D61FC0-04D1-A37F-0D8C-03F2626886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fld id="{E0173185-2BDC-9E47-A4F3-B79F2FD40CA3}" type="slidenum">
              <a:rPr lang="en-US" altLang="en-US" sz="1200" smtClean="0"/>
              <a:pPr/>
              <a:t>24</a:t>
            </a:fld>
            <a:endParaRPr lang="en-US" altLang="en-US" sz="1200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80B0D72D-BD23-2354-D07D-FDE7513B62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EF6601A1-84F1-8DD7-B79B-36506B2427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" pitchFamily="2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>
            <a:extLst>
              <a:ext uri="{FF2B5EF4-FFF2-40B4-BE49-F238E27FC236}">
                <a16:creationId xmlns:a16="http://schemas.microsoft.com/office/drawing/2014/main" id="{D1975824-ABC8-3341-22A7-6CE7733F30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fld id="{1FC78EA6-33B1-DF4D-8A8F-3AB371F7FF5E}" type="slidenum">
              <a:rPr lang="en-US" altLang="en-US" sz="1200" smtClean="0"/>
              <a:pPr/>
              <a:t>25</a:t>
            </a:fld>
            <a:endParaRPr lang="en-US" altLang="en-US" sz="1200"/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F21DBDA5-8AC7-B2B7-2AD7-94C8C3DCB4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46BAB047-1421-D836-9864-A33B657633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" pitchFamily="2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>
            <a:extLst>
              <a:ext uri="{FF2B5EF4-FFF2-40B4-BE49-F238E27FC236}">
                <a16:creationId xmlns:a16="http://schemas.microsoft.com/office/drawing/2014/main" id="{035077F5-C8E7-48C9-3E88-728D70E911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fld id="{8A9AB1EF-1BE1-CA49-A9E3-E504BE3B97F4}" type="slidenum">
              <a:rPr lang="en-US" altLang="en-US" sz="1200" smtClean="0"/>
              <a:pPr/>
              <a:t>29</a:t>
            </a:fld>
            <a:endParaRPr lang="en-US" altLang="en-US" sz="1200"/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05487F6F-D3DE-B015-0BAD-E3E6416C63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F67CE507-D245-01F0-5DDC-75CF249589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" pitchFamily="2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>
            <a:extLst>
              <a:ext uri="{FF2B5EF4-FFF2-40B4-BE49-F238E27FC236}">
                <a16:creationId xmlns:a16="http://schemas.microsoft.com/office/drawing/2014/main" id="{9B11ECB7-441E-8D3D-F104-667253765B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fld id="{EC854430-D8E4-344F-BA54-C1D201A5D0E7}" type="slidenum">
              <a:rPr lang="en-US" altLang="en-US" sz="1200" smtClean="0"/>
              <a:pPr/>
              <a:t>31</a:t>
            </a:fld>
            <a:endParaRPr lang="en-US" altLang="en-US" sz="1200"/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7A4E75E0-1544-FC36-B500-DD5D89008E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151966B3-4C86-5C23-5DB7-9C5E29A148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" pitchFamily="2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>
            <a:extLst>
              <a:ext uri="{FF2B5EF4-FFF2-40B4-BE49-F238E27FC236}">
                <a16:creationId xmlns:a16="http://schemas.microsoft.com/office/drawing/2014/main" id="{841A9DD0-4F6E-4A47-0C0C-417CB74B5A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fld id="{A40EF75A-0347-824F-9C1C-BE2EABC490ED}" type="slidenum">
              <a:rPr lang="en-US" altLang="en-US" sz="1200" smtClean="0"/>
              <a:pPr/>
              <a:t>32</a:t>
            </a:fld>
            <a:endParaRPr lang="en-US" altLang="en-US" sz="1200"/>
          </a:p>
        </p:txBody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FB158A2F-CD36-2541-A862-303B299E23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435E6547-78EF-7AF0-250E-7F2E1C935F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" pitchFamily="2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86A11FA-6576-DE72-E9B3-87E7CA18D1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FFCF8F3-B4F5-C075-B031-FD54A4C227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DA1A43A-F716-9FB4-5F8F-96ABCFF24C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03B93E-B15A-9A48-AD6F-B62387ACD7E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5574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146AA95-DD22-8959-3F2D-9316F8C517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172850F-C1F7-E8D5-05A0-0A0ADACC97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0DBD228-7626-7F35-A573-12C15BFDBB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B70DDE-E1B0-9248-9FA1-2819B0A433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0541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9EB939D-FF9F-D215-2F6A-C51CBD9583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ED3C2B8-97F1-0CDC-E1AD-54413B2CE2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EFF2627-E8B4-1AFA-5396-F882A3C036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E6445F-B2DB-5A42-B56B-97CD8827B46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8182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43952B-A57F-CF84-20BB-048F13CE39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E9CBCF-E64D-4D06-B054-F1CC1B9D8E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C7994E-2C8A-9A0E-9ACC-1EF5CC8623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0D4370-54F4-E04E-9C5C-72CF221848C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1705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2F2BDE8-EF0F-30F1-B61C-46FA7CA814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4D967E0-1A82-11E2-0868-B6E2C50FD3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E61BDC0-9D4C-CABD-CD79-5BB4E7AAE0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EBDDA0-8BB7-B94E-9615-5C573B88CD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8450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5A377E8-DA01-D3DA-8D22-0F943DD54B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C455786-442B-1864-5EAA-9CE3311C59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476E13B-928F-701B-4D52-B48F095BDC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9AAC0A-C82E-AA40-B857-18FCE18F87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3158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4346A0D-EA3F-F498-F320-A427DF7FA9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D8E031F-A6CE-8F3A-BF56-093D5183E0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3BCB146-09DB-B18B-27F1-505F37B5AA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D149A3-0995-9B44-A294-7AF5B15913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9385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921E19-C1D3-23D5-0EAC-10C982DEF2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453DF5-A996-2BB0-D566-2FB68FE091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D53E2C-BA42-37DC-1269-27A8642A93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93BD46-86DC-3F4E-8054-87FBC806A6C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6180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1142B4-C515-26FC-5F6D-0E619DFA97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D94F0-FCC5-0AC0-A200-CCDB17EE7C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D6BC64-A283-53B5-1BA4-E018D2420B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954B9E-4609-4142-9AC2-A64982F972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1507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691C4C0-5056-0EA1-911D-BD29778B22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FC9503B-37EB-1B12-B62D-E5CDE7F8C0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FDFF72-788A-3B39-48A9-6C2ECA1057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C14703-3BF0-F948-BB6B-E424A77B3C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8711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2CDDA69-D4A1-0A5B-AADC-AE5E140A3F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BA72744-51D7-5BCF-4A08-ACCFF07C82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825A7DC-E730-28F0-1BB1-572BCE5B6A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2F7A6B-0621-5345-B9D7-DD42927ED5D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11048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1326"/>
            <a:ext cx="8062912" cy="659535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19C71-EC74-44AF-B27E-FC7DC3C3A61D}" type="datetime4">
              <a:rPr lang="en-US" smtClean="0"/>
              <a:pPr/>
              <a:t>January 12,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57199" y="1107618"/>
            <a:ext cx="4031619" cy="460768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606925" y="1107618"/>
            <a:ext cx="3913188" cy="4607382"/>
          </a:xfrm>
        </p:spPr>
        <p:txBody>
          <a:bodyPr/>
          <a:lstStyle>
            <a:lvl1pPr>
              <a:buClr>
                <a:srgbClr val="6CB255"/>
              </a:buClr>
              <a:defRPr>
                <a:solidFill>
                  <a:srgbClr val="212F62"/>
                </a:solidFill>
              </a:defRPr>
            </a:lvl1pPr>
            <a:lvl2pPr marL="731520" indent="-457200">
              <a:buClr>
                <a:srgbClr val="6CB255"/>
              </a:buClr>
              <a:buFont typeface="+mj-lt"/>
              <a:buAutoNum type="alphaLcParenR"/>
              <a:defRPr>
                <a:solidFill>
                  <a:schemeClr val="tx1"/>
                </a:solidFill>
              </a:defRPr>
            </a:lvl2pPr>
            <a:lvl3pPr marL="1257300" indent="-342900">
              <a:buClr>
                <a:srgbClr val="6CB255"/>
              </a:buClr>
              <a:buFont typeface="+mj-lt"/>
              <a:buAutoNum type="alphaLcParenR"/>
              <a:defRPr>
                <a:solidFill>
                  <a:schemeClr val="tx1"/>
                </a:solidFill>
              </a:defRPr>
            </a:lvl3pPr>
            <a:lvl4pPr marL="1714500" indent="-342900">
              <a:buClr>
                <a:srgbClr val="6CB255"/>
              </a:buClr>
              <a:buFont typeface="+mj-lt"/>
              <a:buAutoNum type="alphaLcParenR"/>
              <a:defRPr>
                <a:solidFill>
                  <a:schemeClr val="tx1"/>
                </a:solidFill>
              </a:defRPr>
            </a:lvl4pPr>
            <a:lvl5pPr marL="2171700" indent="-342900">
              <a:buClr>
                <a:srgbClr val="6CB255"/>
              </a:buClr>
              <a:buFont typeface="+mj-lt"/>
              <a:buAutoNum type="alphaLcParenR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04129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1C5EC56-F059-8E27-F9AC-874EEC8AB6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3D7DE34-67A3-4F07-4387-29B0B50ACD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3349AE6-B7CA-0AB8-BFB2-81186C232F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" pitchFamily="-109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3345BF8-7920-EC92-8AB6-58C711A924D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" pitchFamily="-109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7F80939-0D24-3CBF-2AB1-6B5F261686E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27AD331-52E8-0242-807B-8BF0F8ED370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24" charset="-128"/>
          <a:cs typeface="ＭＳ Ｐゴシック" pitchFamily="2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24" charset="0"/>
          <a:ea typeface="ＭＳ Ｐゴシック" pitchFamily="24" charset="-128"/>
          <a:cs typeface="ＭＳ Ｐゴシック" pitchFamily="2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24" charset="0"/>
          <a:ea typeface="ＭＳ Ｐゴシック" pitchFamily="24" charset="-128"/>
          <a:cs typeface="ＭＳ Ｐゴシック" pitchFamily="2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24" charset="0"/>
          <a:ea typeface="ＭＳ Ｐゴシック" pitchFamily="24" charset="-128"/>
          <a:cs typeface="ＭＳ Ｐゴシック" pitchFamily="2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24" charset="0"/>
          <a:ea typeface="ＭＳ Ｐゴシック" pitchFamily="24" charset="-128"/>
          <a:cs typeface="ＭＳ Ｐゴシック" pitchFamily="24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2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2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2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2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24" charset="-128"/>
          <a:cs typeface="ＭＳ Ｐゴシック" pitchFamily="24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2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2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2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24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24" charset="-128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24" charset="-128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24" charset="-128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2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62268BC7-5ABD-6569-0589-C1C8213FF8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Population genetics problem set </a:t>
            </a:r>
          </a:p>
        </p:txBody>
      </p:sp>
      <p:sp>
        <p:nvSpPr>
          <p:cNvPr id="15362" name="Content Placeholder 2">
            <a:extLst>
              <a:ext uri="{FF2B5EF4-FFF2-40B4-BE49-F238E27FC236}">
                <a16:creationId xmlns:a16="http://schemas.microsoft.com/office/drawing/2014/main" id="{E8470D1E-BD79-DD3B-ECA3-4713AD0EC9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Practice problems and answer key are posted with lecture.  I strongly urge you to try these before you take the quiz.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F160674D-9C6A-2E3C-2DD6-A3155B4DC63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Evolutionary processes</a:t>
            </a:r>
            <a:br>
              <a:rPr lang="en-US" altLang="en-US" dirty="0">
                <a:ea typeface="ＭＳ Ｐゴシック" panose="020B0600070205080204" pitchFamily="34" charset="-128"/>
              </a:rPr>
            </a:br>
            <a:br>
              <a:rPr lang="en-US" altLang="en-US" dirty="0">
                <a:ea typeface="ＭＳ Ｐゴシック" panose="020B0600070205080204" pitchFamily="34" charset="-128"/>
              </a:rPr>
            </a:br>
            <a:r>
              <a:rPr lang="en-US" altLang="en-US" dirty="0">
                <a:ea typeface="ＭＳ Ｐゴシック" panose="020B0600070205080204" pitchFamily="34" charset="-128"/>
              </a:rPr>
              <a:t>Evolution is understood today in terms of _________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3" name="Picture 2">
            <a:extLst>
              <a:ext uri="{FF2B5EF4-FFF2-40B4-BE49-F238E27FC236}">
                <a16:creationId xmlns:a16="http://schemas.microsoft.com/office/drawing/2014/main" id="{1FC1171E-8110-BDC4-8023-37AA00A9E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3738" y="1447800"/>
            <a:ext cx="2608262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4" name="Text Box 3">
            <a:extLst>
              <a:ext uri="{FF2B5EF4-FFF2-40B4-BE49-F238E27FC236}">
                <a16:creationId xmlns:a16="http://schemas.microsoft.com/office/drawing/2014/main" id="{CB07060C-F7E7-33A9-BEFD-B67126500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3563" y="914400"/>
            <a:ext cx="3222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The Founder of Genetics</a:t>
            </a:r>
          </a:p>
        </p:txBody>
      </p:sp>
      <p:sp>
        <p:nvSpPr>
          <p:cNvPr id="18435" name="Text Box 4">
            <a:extLst>
              <a:ext uri="{FF2B5EF4-FFF2-40B4-BE49-F238E27FC236}">
                <a16:creationId xmlns:a16="http://schemas.microsoft.com/office/drawing/2014/main" id="{C7EEAB49-5384-97C3-A586-3F3A28016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5181600"/>
            <a:ext cx="1587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Gregor Mendel</a:t>
            </a:r>
          </a:p>
        </p:txBody>
      </p:sp>
      <p:pic>
        <p:nvPicPr>
          <p:cNvPr id="18436" name="Picture 5">
            <a:extLst>
              <a:ext uri="{FF2B5EF4-FFF2-40B4-BE49-F238E27FC236}">
                <a16:creationId xmlns:a16="http://schemas.microsoft.com/office/drawing/2014/main" id="{AABD6F1D-7B23-54EF-B666-9B68AEDC8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133600"/>
            <a:ext cx="2819400" cy="196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7" name="Text Box 6">
            <a:extLst>
              <a:ext uri="{FF2B5EF4-FFF2-40B4-BE49-F238E27FC236}">
                <a16:creationId xmlns:a16="http://schemas.microsoft.com/office/drawing/2014/main" id="{B6BA5CE2-8A5B-BA07-0444-49756C01F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267200"/>
            <a:ext cx="22558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Round and wrinkled peas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1" name="Picture 2">
            <a:extLst>
              <a:ext uri="{FF2B5EF4-FFF2-40B4-BE49-F238E27FC236}">
                <a16:creationId xmlns:a16="http://schemas.microsoft.com/office/drawing/2014/main" id="{49E2C42D-4E9E-5964-373D-1E9593CB64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863" y="1676400"/>
            <a:ext cx="6262687" cy="214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2" name="Text Box 3">
            <a:extLst>
              <a:ext uri="{FF2B5EF4-FFF2-40B4-BE49-F238E27FC236}">
                <a16:creationId xmlns:a16="http://schemas.microsoft.com/office/drawing/2014/main" id="{BA8C101B-BAA4-8015-861A-96EE6D7B5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990600"/>
            <a:ext cx="4738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The Founders of Population Genetics</a:t>
            </a:r>
          </a:p>
        </p:txBody>
      </p:sp>
      <p:sp>
        <p:nvSpPr>
          <p:cNvPr id="20483" name="Text Box 4">
            <a:extLst>
              <a:ext uri="{FF2B5EF4-FFF2-40B4-BE49-F238E27FC236}">
                <a16:creationId xmlns:a16="http://schemas.microsoft.com/office/drawing/2014/main" id="{A6A90F4A-8879-5743-FB82-FAA53F3DC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3962400"/>
            <a:ext cx="1362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/>
              <a:t>R.A. Fisher</a:t>
            </a:r>
          </a:p>
        </p:txBody>
      </p:sp>
      <p:sp>
        <p:nvSpPr>
          <p:cNvPr id="20484" name="Text Box 5">
            <a:extLst>
              <a:ext uri="{FF2B5EF4-FFF2-40B4-BE49-F238E27FC236}">
                <a16:creationId xmlns:a16="http://schemas.microsoft.com/office/drawing/2014/main" id="{A4481BEC-0065-0488-5C25-C494382E0F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962400"/>
            <a:ext cx="15033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/>
              <a:t>JBS Haldane</a:t>
            </a:r>
          </a:p>
        </p:txBody>
      </p:sp>
      <p:sp>
        <p:nvSpPr>
          <p:cNvPr id="20485" name="Text Box 6">
            <a:extLst>
              <a:ext uri="{FF2B5EF4-FFF2-40B4-BE49-F238E27FC236}">
                <a16:creationId xmlns:a16="http://schemas.microsoft.com/office/drawing/2014/main" id="{9FDB381F-005B-B85C-BEAB-19BBB1E01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9013" y="3992563"/>
            <a:ext cx="1171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/>
              <a:t>S. Wright</a:t>
            </a:r>
            <a:endParaRPr lang="en-US" altLang="en-US" sz="2400"/>
          </a:p>
        </p:txBody>
      </p:sp>
      <p:sp>
        <p:nvSpPr>
          <p:cNvPr id="20486" name="TextBox 6">
            <a:extLst>
              <a:ext uri="{FF2B5EF4-FFF2-40B4-BE49-F238E27FC236}">
                <a16:creationId xmlns:a16="http://schemas.microsoft.com/office/drawing/2014/main" id="{E10498AE-D452-3345-650F-4C5F5AA56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953000"/>
            <a:ext cx="7162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The fusion of genetics and Darwinian evolution is referred to as the </a:t>
            </a:r>
            <a:r>
              <a:rPr lang="en-US" altLang="en-US" sz="2400" b="1" dirty="0"/>
              <a:t>Modern ____________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29" name="Picture 2">
            <a:extLst>
              <a:ext uri="{FF2B5EF4-FFF2-40B4-BE49-F238E27FC236}">
                <a16:creationId xmlns:a16="http://schemas.microsoft.com/office/drawing/2014/main" id="{672FBB4A-CA84-11A9-5E16-A434070EA0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219200"/>
            <a:ext cx="4660900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0" name="Text Box 3">
            <a:extLst>
              <a:ext uri="{FF2B5EF4-FFF2-40B4-BE49-F238E27FC236}">
                <a16:creationId xmlns:a16="http://schemas.microsoft.com/office/drawing/2014/main" id="{2E0186AD-08E1-66F6-7C0E-87A48C0E15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365125"/>
            <a:ext cx="83423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Natural selection acts on </a:t>
            </a:r>
            <a:r>
              <a:rPr lang="en-US" altLang="en-US" sz="2400" b="1" dirty="0"/>
              <a:t>individuals</a:t>
            </a:r>
            <a:r>
              <a:rPr lang="en-US" altLang="en-US" sz="2400" dirty="0"/>
              <a:t>, but </a:t>
            </a:r>
            <a:r>
              <a:rPr lang="en-US" altLang="en-US" sz="2400" b="1" dirty="0"/>
              <a:t>_____________</a:t>
            </a:r>
            <a:r>
              <a:rPr lang="en-US" altLang="en-US" sz="2400" dirty="0"/>
              <a:t> evolve.</a:t>
            </a:r>
          </a:p>
        </p:txBody>
      </p:sp>
      <p:sp>
        <p:nvSpPr>
          <p:cNvPr id="22531" name="Text Box 4">
            <a:extLst>
              <a:ext uri="{FF2B5EF4-FFF2-40B4-BE49-F238E27FC236}">
                <a16:creationId xmlns:a16="http://schemas.microsoft.com/office/drawing/2014/main" id="{1C82A02D-390F-5446-BEEB-7D7572D340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5105400"/>
            <a:ext cx="58674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dirty="0"/>
              <a:t>population</a:t>
            </a:r>
            <a:r>
              <a:rPr lang="en-US" altLang="en-US" sz="2400" dirty="0"/>
              <a:t> = a group of individuals of the same _______________ that occupy the same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4C91FEDA-A0CE-0AE9-D083-2CB955A718E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81000" y="1295400"/>
            <a:ext cx="8382000" cy="1143000"/>
          </a:xfrm>
        </p:spPr>
        <p:txBody>
          <a:bodyPr/>
          <a:lstStyle/>
          <a:p>
            <a:pPr algn="l"/>
            <a:r>
              <a:rPr lang="en-US" altLang="en-US" dirty="0">
                <a:ea typeface="ＭＳ Ｐゴシック" panose="020B0600070205080204" pitchFamily="34" charset="-128"/>
              </a:rPr>
              <a:t>Individuals have a genotype:</a:t>
            </a:r>
            <a:br>
              <a:rPr lang="en-US" altLang="en-US" dirty="0">
                <a:ea typeface="ＭＳ Ｐゴシック" panose="020B0600070205080204" pitchFamily="34" charset="-128"/>
              </a:rPr>
            </a:br>
            <a:r>
              <a:rPr lang="en-US" altLang="en-US" dirty="0">
                <a:ea typeface="ＭＳ Ｐゴシック" panose="020B0600070205080204" pitchFamily="34" charset="-128"/>
              </a:rPr>
              <a:t>Populations have </a:t>
            </a:r>
            <a:r>
              <a:rPr lang="en-US" altLang="en-US" b="1" dirty="0">
                <a:ea typeface="ＭＳ Ｐゴシック" panose="020B0600070205080204" pitchFamily="34" charset="-128"/>
              </a:rPr>
              <a:t>___________ structure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CF0F978B-205C-AF59-0A1E-C7B6DE3D15C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133600" y="3429000"/>
            <a:ext cx="6400800" cy="1752600"/>
          </a:xfrm>
        </p:spPr>
        <p:txBody>
          <a:bodyPr/>
          <a:lstStyle/>
          <a:p>
            <a:pPr algn="l">
              <a:buFontTx/>
              <a:buChar char="•"/>
            </a:pPr>
            <a:r>
              <a:rPr lang="en-US" altLang="en-US">
                <a:ea typeface="ＭＳ Ｐゴシック" panose="020B0600070205080204" pitchFamily="34" charset="-128"/>
              </a:rPr>
              <a:t> </a:t>
            </a:r>
            <a:r>
              <a:rPr lang="en-US" altLang="en-US" u="sng">
                <a:ea typeface="ＭＳ Ｐゴシック" panose="020B0600070205080204" pitchFamily="34" charset="-128"/>
              </a:rPr>
              <a:t>allele frequency</a:t>
            </a:r>
            <a:endParaRPr lang="en-US" altLang="en-US">
              <a:ea typeface="ＭＳ Ｐゴシック" panose="020B0600070205080204" pitchFamily="34" charset="-128"/>
            </a:endParaRPr>
          </a:p>
          <a:p>
            <a:pPr algn="l">
              <a:buFontTx/>
              <a:buChar char="•"/>
            </a:pPr>
            <a:r>
              <a:rPr lang="en-US" altLang="en-US">
                <a:ea typeface="ＭＳ Ｐゴシック" panose="020B0600070205080204" pitchFamily="34" charset="-128"/>
              </a:rPr>
              <a:t> </a:t>
            </a:r>
            <a:r>
              <a:rPr lang="en-US" altLang="en-US" u="sng">
                <a:ea typeface="ＭＳ Ｐゴシック" panose="020B0600070205080204" pitchFamily="34" charset="-128"/>
              </a:rPr>
              <a:t>genotype frequency</a:t>
            </a:r>
            <a:endParaRPr lang="en-US" altLang="en-US">
              <a:ea typeface="ＭＳ Ｐゴシック" panose="020B0600070205080204" pitchFamily="34" charset="-128"/>
            </a:endParaRPr>
          </a:p>
          <a:p>
            <a:pPr algn="l">
              <a:buFontTx/>
              <a:buChar char="•"/>
            </a:pPr>
            <a:r>
              <a:rPr lang="en-US" altLang="en-US">
                <a:ea typeface="ＭＳ Ｐゴシック" panose="020B0600070205080204" pitchFamily="34" charset="-128"/>
              </a:rPr>
              <a:t> all the genes at all the loci in a population is the </a:t>
            </a:r>
            <a:r>
              <a:rPr lang="en-US" altLang="en-US" b="1">
                <a:ea typeface="ＭＳ Ｐゴシック" panose="020B0600070205080204" pitchFamily="34" charset="-128"/>
              </a:rPr>
              <a:t>gene pool.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5" name="Picture 2">
            <a:extLst>
              <a:ext uri="{FF2B5EF4-FFF2-40B4-BE49-F238E27FC236}">
                <a16:creationId xmlns:a16="http://schemas.microsoft.com/office/drawing/2014/main" id="{0DC9864E-A78A-FCC8-D39F-09AD21C16F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838200"/>
            <a:ext cx="4648200" cy="330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6" name="Text Box 3">
            <a:extLst>
              <a:ext uri="{FF2B5EF4-FFF2-40B4-BE49-F238E27FC236}">
                <a16:creationId xmlns:a16="http://schemas.microsoft.com/office/drawing/2014/main" id="{C3CFB745-2771-F3CB-D16A-81F547F00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533400"/>
            <a:ext cx="4116255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dirty="0"/>
              <a:t>Alleles</a:t>
            </a:r>
            <a:r>
              <a:rPr lang="en-US" altLang="en-US" sz="2400" dirty="0"/>
              <a:t> are different ________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of the same gene.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-diploid </a:t>
            </a:r>
            <a:r>
              <a:rPr lang="en-US" altLang="en-US" sz="2400" b="1" u="sng" dirty="0"/>
              <a:t>individuals</a:t>
            </a:r>
            <a:r>
              <a:rPr lang="en-US" altLang="en-US" sz="2400" dirty="0"/>
              <a:t> have 2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alleles of each gene.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dirty="0"/>
              <a:t>Homozygote</a:t>
            </a:r>
            <a:r>
              <a:rPr lang="en-US" altLang="en-US" sz="2400" dirty="0"/>
              <a:t> = individual with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the same two alleles.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dirty="0"/>
              <a:t>Heterozygote</a:t>
            </a:r>
            <a:r>
              <a:rPr lang="en-US" altLang="en-US" sz="2400" dirty="0"/>
              <a:t> = individual with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two different alleles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-</a:t>
            </a:r>
            <a:r>
              <a:rPr lang="en-US" altLang="en-US" sz="2400" b="1" u="sng" dirty="0"/>
              <a:t>Populations</a:t>
            </a:r>
            <a:r>
              <a:rPr lang="en-US" altLang="en-US" sz="2400" dirty="0"/>
              <a:t> can contain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____________ alleles.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extBox 2">
            <a:extLst>
              <a:ext uri="{FF2B5EF4-FFF2-40B4-BE49-F238E27FC236}">
                <a16:creationId xmlns:a16="http://schemas.microsoft.com/office/drawing/2014/main" id="{001F5333-CD9F-0E3E-ADC1-24CCE324BB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5943600"/>
            <a:ext cx="7858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/>
              <a:t>Three alleles in a population (A, B, and O), only 2 per individual organism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36F7BF5A-A2D3-EE47-C9C2-AE1F004D75E3}"/>
              </a:ext>
            </a:extLst>
          </p:cNvPr>
          <p:cNvSpPr txBox="1">
            <a:spLocks/>
          </p:cNvSpPr>
          <p:nvPr/>
        </p:nvSpPr>
        <p:spPr>
          <a:xfrm>
            <a:off x="1833563" y="1978025"/>
            <a:ext cx="5476875" cy="46037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ＭＳ Ｐゴシック" pitchFamily="24" charset="-128"/>
                <a:cs typeface="ＭＳ Ｐゴシック" pitchFamily="2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ＭＳ Ｐゴシック" pitchFamily="2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2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pitchFamily="2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24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24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24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24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24" charset="-128"/>
              </a:defRPr>
            </a:lvl9pPr>
          </a:lstStyle>
          <a:p>
            <a:pPr marL="0" indent="0">
              <a:buFontTx/>
              <a:buNone/>
              <a:defRPr/>
            </a:pPr>
            <a:r>
              <a:rPr lang="en-US" sz="2400" b="1" kern="0"/>
              <a:t>Table 20.1 The ABO blood system.</a:t>
            </a:r>
            <a:endParaRPr lang="en-US" sz="2400" b="1" kern="0" dirty="0"/>
          </a:p>
        </p:txBody>
      </p:sp>
      <p:graphicFrame>
        <p:nvGraphicFramePr>
          <p:cNvPr id="5" name="Table Placeholder 9" title="Table 20.1 The ABO blood system.">
            <a:extLst>
              <a:ext uri="{FF2B5EF4-FFF2-40B4-BE49-F238E27FC236}">
                <a16:creationId xmlns:a16="http://schemas.microsoft.com/office/drawing/2014/main" id="{95F960CB-0A92-C95E-B5FD-767A06936481}"/>
              </a:ext>
            </a:extLst>
          </p:cNvPr>
          <p:cNvGraphicFramePr>
            <a:graphicFrameLocks/>
          </p:cNvGraphicFramePr>
          <p:nvPr/>
        </p:nvGraphicFramePr>
        <p:xfrm>
          <a:off x="3143250" y="2687638"/>
          <a:ext cx="2857500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98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7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b="1" dirty="0"/>
                        <a:t>PHENOTYPE</a:t>
                      </a:r>
                    </a:p>
                  </a:txBody>
                  <a:tcPr marL="91470" marR="91470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GENOTYPE</a:t>
                      </a:r>
                    </a:p>
                  </a:txBody>
                  <a:tcPr marL="91470" marR="9147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 marL="91470" marR="91470"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AA</a:t>
                      </a:r>
                      <a:r>
                        <a:rPr lang="en-US" sz="1600" dirty="0"/>
                        <a:t> or</a:t>
                      </a:r>
                      <a:r>
                        <a:rPr lang="en-US" sz="1600" i="1" dirty="0"/>
                        <a:t> AO</a:t>
                      </a:r>
                    </a:p>
                  </a:txBody>
                  <a:tcPr marL="91470" marR="9147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 marL="91470" marR="91470"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BB</a:t>
                      </a:r>
                      <a:r>
                        <a:rPr lang="en-US" sz="1600" dirty="0"/>
                        <a:t> or </a:t>
                      </a:r>
                      <a:r>
                        <a:rPr lang="en-US" sz="1600" i="1" dirty="0"/>
                        <a:t>BO</a:t>
                      </a:r>
                    </a:p>
                  </a:txBody>
                  <a:tcPr marL="91470" marR="9147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AB</a:t>
                      </a:r>
                    </a:p>
                  </a:txBody>
                  <a:tcPr marL="91470" marR="91470"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AB</a:t>
                      </a:r>
                    </a:p>
                  </a:txBody>
                  <a:tcPr marL="91470" marR="9147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O</a:t>
                      </a:r>
                    </a:p>
                  </a:txBody>
                  <a:tcPr marL="91470" marR="91470"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OO</a:t>
                      </a:r>
                    </a:p>
                  </a:txBody>
                  <a:tcPr marL="91470" marR="9147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0C22EFCA-AB4B-E6B0-6D89-6BAA1822E43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Where does variation come from?</a:t>
            </a:r>
          </a:p>
        </p:txBody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ACD5F2B9-DE9F-E836-DF48-D5C4C9443E1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algn="l">
              <a:buFontTx/>
              <a:buChar char="•"/>
            </a:pPr>
            <a:r>
              <a:rPr lang="en-US" altLang="en-US" dirty="0">
                <a:ea typeface="ＭＳ Ｐゴシック" panose="020B0600070205080204" pitchFamily="34" charset="-128"/>
              </a:rPr>
              <a:t>Mostly from </a:t>
            </a:r>
            <a:r>
              <a:rPr lang="en-US" altLang="en-US" b="1" dirty="0">
                <a:ea typeface="ＭＳ Ｐゴシック" panose="020B0600070205080204" pitchFamily="34" charset="-128"/>
              </a:rPr>
              <a:t>______________</a:t>
            </a:r>
            <a:r>
              <a:rPr lang="en-US" altLang="en-US" dirty="0">
                <a:ea typeface="ＭＳ Ｐゴシック" panose="020B0600070205080204" pitchFamily="34" charset="-128"/>
              </a:rPr>
              <a:t>!</a:t>
            </a:r>
          </a:p>
          <a:p>
            <a:pPr algn="l">
              <a:buFontTx/>
              <a:buChar char="•"/>
            </a:pPr>
            <a:r>
              <a:rPr lang="en-US" altLang="en-US" dirty="0">
                <a:ea typeface="ＭＳ Ｐゴシック" panose="020B0600070205080204" pitchFamily="34" charset="-128"/>
              </a:rPr>
              <a:t>In diploid organisms, by </a:t>
            </a:r>
            <a:r>
              <a:rPr lang="en-US" altLang="en-US" b="1" dirty="0">
                <a:ea typeface="ＭＳ Ｐゴシック" panose="020B0600070205080204" pitchFamily="34" charset="-128"/>
              </a:rPr>
              <a:t>sexual recombination</a:t>
            </a:r>
            <a:r>
              <a:rPr lang="en-US" altLang="en-US" dirty="0">
                <a:ea typeface="ＭＳ Ｐゴシック" panose="020B0600070205080204" pitchFamily="34" charset="-128"/>
              </a:rPr>
              <a:t> as well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ext Box 2">
            <a:extLst>
              <a:ext uri="{FF2B5EF4-FFF2-40B4-BE49-F238E27FC236}">
                <a16:creationId xmlns:a16="http://schemas.microsoft.com/office/drawing/2014/main" id="{0BDF8C5C-1C04-E6F0-A045-369DFCD3F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04800"/>
            <a:ext cx="78136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Mutations create new ___________: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1. Point mutations (single nucleotide polymorphisms = SNPs)</a:t>
            </a:r>
          </a:p>
        </p:txBody>
      </p:sp>
      <p:pic>
        <p:nvPicPr>
          <p:cNvPr id="31746" name="Picture 3">
            <a:extLst>
              <a:ext uri="{FF2B5EF4-FFF2-40B4-BE49-F238E27FC236}">
                <a16:creationId xmlns:a16="http://schemas.microsoft.com/office/drawing/2014/main" id="{77C15B64-7369-131C-9A5D-26B5C9C6A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100" y="1316038"/>
            <a:ext cx="7035800" cy="462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7" name="Text Box 4">
            <a:extLst>
              <a:ext uri="{FF2B5EF4-FFF2-40B4-BE49-F238E27FC236}">
                <a16:creationId xmlns:a16="http://schemas.microsoft.com/office/drawing/2014/main" id="{DF93167A-7D74-8E61-379A-7FF338834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5919788"/>
            <a:ext cx="8201025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u="sng"/>
              <a:t>Insertions or deletions</a:t>
            </a:r>
            <a:r>
              <a:rPr lang="en-US" altLang="en-US" sz="1800"/>
              <a:t> cause </a:t>
            </a:r>
            <a:r>
              <a:rPr lang="en-US" altLang="en-US" sz="1800" b="1"/>
              <a:t>frameshifts</a:t>
            </a:r>
            <a:r>
              <a:rPr lang="en-US" altLang="en-US" sz="1800"/>
              <a:t>.  </a:t>
            </a:r>
            <a:r>
              <a:rPr lang="en-US" altLang="en-US" sz="1800" u="sng"/>
              <a:t>Substitutions</a:t>
            </a:r>
            <a:r>
              <a:rPr lang="en-US" altLang="en-US" sz="1800"/>
              <a:t> cause </a:t>
            </a:r>
            <a:r>
              <a:rPr lang="en-US" altLang="en-US" sz="1800" b="1"/>
              <a:t>missense</a:t>
            </a:r>
            <a:r>
              <a:rPr lang="en-US" altLang="en-US" sz="1800"/>
              <a:t> or </a:t>
            </a:r>
            <a:r>
              <a:rPr lang="en-US" altLang="en-US" sz="1800" b="1"/>
              <a:t>nonsense</a:t>
            </a:r>
            <a:endParaRPr lang="en-US" altLang="en-US" sz="18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mutations or may have </a:t>
            </a:r>
            <a:r>
              <a:rPr lang="en-US" altLang="en-US" sz="1800" b="1"/>
              <a:t>no effect</a:t>
            </a:r>
            <a:r>
              <a:rPr lang="en-US" altLang="en-US" sz="1800"/>
              <a:t> at all.  The kind of mutation can have profound effects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on the phenotype.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3" name="Picture 2">
            <a:extLst>
              <a:ext uri="{FF2B5EF4-FFF2-40B4-BE49-F238E27FC236}">
                <a16:creationId xmlns:a16="http://schemas.microsoft.com/office/drawing/2014/main" id="{8CE18825-C9DE-7C19-7D52-98A8D32F1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19100"/>
            <a:ext cx="4068763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4" name="Text Box 3">
            <a:extLst>
              <a:ext uri="{FF2B5EF4-FFF2-40B4-BE49-F238E27FC236}">
                <a16:creationId xmlns:a16="http://schemas.microsoft.com/office/drawing/2014/main" id="{E856F89B-DCC2-0C6F-209C-64F8C8D27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2300" y="381000"/>
            <a:ext cx="4751044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dirty="0"/>
              <a:t>Sexual recombination</a:t>
            </a:r>
            <a:r>
              <a:rPr lang="en-US" altLang="en-US" sz="2400" dirty="0"/>
              <a:t> is a source of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genetic variation.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-new ______________ of alleles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are created.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1" name="Picture 8" descr="figure_21_04a_unl.jpg">
            <a:extLst>
              <a:ext uri="{FF2B5EF4-FFF2-40B4-BE49-F238E27FC236}">
                <a16:creationId xmlns:a16="http://schemas.microsoft.com/office/drawing/2014/main" id="{9E857313-1A15-A425-654A-D8CCB4C514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84"/>
          <a:stretch>
            <a:fillRect/>
          </a:stretch>
        </p:blipFill>
        <p:spPr bwMode="auto">
          <a:xfrm>
            <a:off x="2057400" y="1066800"/>
            <a:ext cx="5156200" cy="463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2" name="Rectangle 3">
            <a:extLst>
              <a:ext uri="{FF2B5EF4-FFF2-40B4-BE49-F238E27FC236}">
                <a16:creationId xmlns:a16="http://schemas.microsoft.com/office/drawing/2014/main" id="{CF1EC951-7A06-85BF-B1D0-9BFC10D53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724400"/>
            <a:ext cx="13001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i="1"/>
              <a:t>Drosophila</a:t>
            </a:r>
            <a:endParaRPr lang="en-US" altLang="en-US" sz="1800"/>
          </a:p>
        </p:txBody>
      </p:sp>
      <p:sp>
        <p:nvSpPr>
          <p:cNvPr id="35843" name="Rectangle 4">
            <a:extLst>
              <a:ext uri="{FF2B5EF4-FFF2-40B4-BE49-F238E27FC236}">
                <a16:creationId xmlns:a16="http://schemas.microsoft.com/office/drawing/2014/main" id="{FA826BBF-83F7-0440-AC1C-B9D89FA0E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800600"/>
            <a:ext cx="148431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The body of the fly is ground up.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75670C5-4072-3B26-7146-237AEBBA0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5625" y="1649413"/>
            <a:ext cx="4498975" cy="7413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50800" dist="38100" dir="2700000" rotWithShape="0">
              <a:srgbClr val="808080">
                <a:alpha val="42998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800" dirty="0">
                <a:latin typeface="Arial"/>
                <a:ea typeface="+mn-ea"/>
                <a:cs typeface="Arial"/>
              </a:rPr>
              <a:t>Test material may include blood samples or ground up samples of organisms.</a:t>
            </a:r>
          </a:p>
        </p:txBody>
      </p:sp>
      <p:sp>
        <p:nvSpPr>
          <p:cNvPr id="35845" name="TextBox 8">
            <a:extLst>
              <a:ext uri="{FF2B5EF4-FFF2-40B4-BE49-F238E27FC236}">
                <a16:creationId xmlns:a16="http://schemas.microsoft.com/office/drawing/2014/main" id="{AC561DB7-96C0-9B73-A9ED-EF938384B7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325" y="609600"/>
            <a:ext cx="2673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Measuring variation</a:t>
            </a:r>
          </a:p>
        </p:txBody>
      </p:sp>
      <p:sp>
        <p:nvSpPr>
          <p:cNvPr id="35846" name="TextBox 9">
            <a:extLst>
              <a:ext uri="{FF2B5EF4-FFF2-40B4-BE49-F238E27FC236}">
                <a16:creationId xmlns:a16="http://schemas.microsoft.com/office/drawing/2014/main" id="{FB86238C-9D64-1FDF-4B9A-47AC859940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8" y="6019800"/>
            <a:ext cx="57372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Can measure traits visually, or biochemically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5" name="Picture 3" descr="figure_21_04b_unl.jpg">
            <a:extLst>
              <a:ext uri="{FF2B5EF4-FFF2-40B4-BE49-F238E27FC236}">
                <a16:creationId xmlns:a16="http://schemas.microsoft.com/office/drawing/2014/main" id="{53047BFE-54E0-1E13-519C-4524D9542D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57"/>
          <a:stretch>
            <a:fillRect/>
          </a:stretch>
        </p:blipFill>
        <p:spPr bwMode="auto">
          <a:xfrm>
            <a:off x="1901825" y="161925"/>
            <a:ext cx="5340350" cy="609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119AD8C-C100-336C-D610-4B615B680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2175" y="363538"/>
            <a:ext cx="4762500" cy="12239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50800" dist="38100" dir="2700000" rotWithShape="0">
              <a:srgbClr val="808080">
                <a:alpha val="42998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600" dirty="0">
                <a:latin typeface="Arial"/>
                <a:ea typeface="+mn-ea"/>
                <a:cs typeface="Arial"/>
              </a:rPr>
              <a:t>The samples are loaded into separate wells on the gel, and the proteins in each sample migrate toward the positive electrode according to their charge and size.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89" name="Picture 10" descr="figure_21_04c_unl.jpg">
            <a:extLst>
              <a:ext uri="{FF2B5EF4-FFF2-40B4-BE49-F238E27FC236}">
                <a16:creationId xmlns:a16="http://schemas.microsoft.com/office/drawing/2014/main" id="{682133FA-184B-61E0-8E24-B6332246E3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17"/>
          <a:stretch>
            <a:fillRect/>
          </a:stretch>
        </p:blipFill>
        <p:spPr bwMode="auto">
          <a:xfrm>
            <a:off x="1508125" y="161925"/>
            <a:ext cx="6127750" cy="601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BECD6FE-EF6B-5693-7747-2FA5471FE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1713" y="309563"/>
            <a:ext cx="4357687" cy="6826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50800" dist="38100" dir="2700000" rotWithShape="0">
              <a:srgbClr val="808080">
                <a:alpha val="42998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600" dirty="0">
                <a:latin typeface="Arial"/>
                <a:ea typeface="+mn-ea"/>
                <a:cs typeface="Arial"/>
              </a:rPr>
              <a:t>The gel is stained with a biochemical agent to see how far the proteins have migrated.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45A608AB-4EC4-4CE5-E7DE-062FC6124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4875" y="2949575"/>
            <a:ext cx="15573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Heterozygote</a:t>
            </a:r>
          </a:p>
        </p:txBody>
      </p:sp>
      <p:cxnSp>
        <p:nvCxnSpPr>
          <p:cNvPr id="37892" name="Straight Connector 30">
            <a:extLst>
              <a:ext uri="{FF2B5EF4-FFF2-40B4-BE49-F238E27FC236}">
                <a16:creationId xmlns:a16="http://schemas.microsoft.com/office/drawing/2014/main" id="{20173FF0-68BA-1931-C8D0-AE2CE1E50361}"/>
              </a:ext>
            </a:extLst>
          </p:cNvPr>
          <p:cNvCxnSpPr>
            <a:cxnSpLocks noChangeShapeType="1"/>
            <a:stCxn id="37891" idx="1"/>
          </p:cNvCxnSpPr>
          <p:nvPr/>
        </p:nvCxnSpPr>
        <p:spPr bwMode="auto">
          <a:xfrm rot="10800000">
            <a:off x="4786313" y="2719388"/>
            <a:ext cx="1198562" cy="415925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893" name="Straight Connector 30">
            <a:extLst>
              <a:ext uri="{FF2B5EF4-FFF2-40B4-BE49-F238E27FC236}">
                <a16:creationId xmlns:a16="http://schemas.microsoft.com/office/drawing/2014/main" id="{0D922D73-6E26-7650-341B-A6093BD65AAA}"/>
              </a:ext>
            </a:extLst>
          </p:cNvPr>
          <p:cNvCxnSpPr>
            <a:cxnSpLocks noChangeShapeType="1"/>
            <a:stCxn id="37891" idx="1"/>
          </p:cNvCxnSpPr>
          <p:nvPr/>
        </p:nvCxnSpPr>
        <p:spPr bwMode="auto">
          <a:xfrm rot="10800000" flipV="1">
            <a:off x="4710113" y="3135313"/>
            <a:ext cx="1274762" cy="708025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894" name="Rectangle 8">
            <a:extLst>
              <a:ext uri="{FF2B5EF4-FFF2-40B4-BE49-F238E27FC236}">
                <a16:creationId xmlns:a16="http://schemas.microsoft.com/office/drawing/2014/main" id="{1CB8865F-F93A-9176-85BD-AA7FB56D5E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8825" y="5434013"/>
            <a:ext cx="166211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Homozygote for allele 1</a:t>
            </a:r>
          </a:p>
        </p:txBody>
      </p:sp>
      <p:sp>
        <p:nvSpPr>
          <p:cNvPr id="37895" name="Rectangle 9">
            <a:extLst>
              <a:ext uri="{FF2B5EF4-FFF2-40B4-BE49-F238E27FC236}">
                <a16:creationId xmlns:a16="http://schemas.microsoft.com/office/drawing/2014/main" id="{313D8069-E2DC-1EDC-3BFF-5EA6A6213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5575" y="5434013"/>
            <a:ext cx="16637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Homozygote for allele 2</a:t>
            </a:r>
          </a:p>
        </p:txBody>
      </p:sp>
      <p:cxnSp>
        <p:nvCxnSpPr>
          <p:cNvPr id="37896" name="Straight Connector 30">
            <a:extLst>
              <a:ext uri="{FF2B5EF4-FFF2-40B4-BE49-F238E27FC236}">
                <a16:creationId xmlns:a16="http://schemas.microsoft.com/office/drawing/2014/main" id="{81536161-A70F-F830-E108-73BB4BAE1528}"/>
              </a:ext>
            </a:extLst>
          </p:cNvPr>
          <p:cNvCxnSpPr>
            <a:cxnSpLocks noChangeShapeType="1"/>
            <a:stCxn id="37894" idx="0"/>
          </p:cNvCxnSpPr>
          <p:nvPr/>
        </p:nvCxnSpPr>
        <p:spPr bwMode="auto">
          <a:xfrm rot="16200000" flipV="1">
            <a:off x="1377157" y="3952081"/>
            <a:ext cx="2622550" cy="341313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897" name="Straight Connector 30">
            <a:extLst>
              <a:ext uri="{FF2B5EF4-FFF2-40B4-BE49-F238E27FC236}">
                <a16:creationId xmlns:a16="http://schemas.microsoft.com/office/drawing/2014/main" id="{7E994BF6-B27A-0FCE-2076-6C695D9933E7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3544888" y="4211638"/>
            <a:ext cx="1538287" cy="966787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898" name="TextBox 1">
            <a:extLst>
              <a:ext uri="{FF2B5EF4-FFF2-40B4-BE49-F238E27FC236}">
                <a16:creationId xmlns:a16="http://schemas.microsoft.com/office/drawing/2014/main" id="{B8C704AA-C33C-4575-6A2D-38B5B1021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143000"/>
            <a:ext cx="3048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What are the genotype frequencies in this population?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What are the allele frequencies in this population?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0F1B8984-35F7-E133-D3F3-2250FF6CFA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Mechanisms of Evolutionary Change</a:t>
            </a:r>
          </a:p>
        </p:txBody>
      </p:sp>
      <p:sp>
        <p:nvSpPr>
          <p:cNvPr id="38914" name="Rectangle 3">
            <a:extLst>
              <a:ext uri="{FF2B5EF4-FFF2-40B4-BE49-F238E27FC236}">
                <a16:creationId xmlns:a16="http://schemas.microsoft.com/office/drawing/2014/main" id="{C2A37223-41A8-6115-B494-F9CBE8ACD6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3100" dirty="0">
                <a:ea typeface="ＭＳ Ｐゴシック" panose="020B0600070205080204" pitchFamily="34" charset="-128"/>
              </a:rPr>
              <a:t>Evolution is defined as </a:t>
            </a:r>
            <a:r>
              <a:rPr lang="en-US" altLang="en-US" sz="3100" b="1" dirty="0">
                <a:ea typeface="ＭＳ Ｐゴシック" panose="020B0600070205080204" pitchFamily="34" charset="-128"/>
              </a:rPr>
              <a:t>a change in allele and genotype ___________ over time</a:t>
            </a:r>
            <a:r>
              <a:rPr lang="en-US" altLang="en-US" sz="3100" dirty="0">
                <a:ea typeface="ＭＳ Ｐゴシック" panose="020B0600070205080204" pitchFamily="34" charset="-128"/>
              </a:rPr>
              <a:t>.  We will measure this later in the lecture.  This is also sometimes called microevolution to note the short time scale involved</a:t>
            </a:r>
          </a:p>
          <a:p>
            <a:pPr>
              <a:lnSpc>
                <a:spcPct val="90000"/>
              </a:lnSpc>
            </a:pPr>
            <a:r>
              <a:rPr lang="en-US" altLang="en-US" sz="3100" dirty="0">
                <a:ea typeface="ＭＳ Ｐゴシック" panose="020B0600070205080204" pitchFamily="34" charset="-128"/>
              </a:rPr>
              <a:t>Specific different forces cause allele and genotype frequencies to change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7517F974-66B5-6352-28B2-8B8BB34A25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Mechanisms of Evolutionary Change</a:t>
            </a:r>
          </a:p>
        </p:txBody>
      </p:sp>
      <p:sp>
        <p:nvSpPr>
          <p:cNvPr id="40962" name="Rectangle 3">
            <a:extLst>
              <a:ext uri="{FF2B5EF4-FFF2-40B4-BE49-F238E27FC236}">
                <a16:creationId xmlns:a16="http://schemas.microsoft.com/office/drawing/2014/main" id="{212FD8BB-6E4E-11BC-5D79-223107E506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668463"/>
            <a:ext cx="9144000" cy="4876800"/>
          </a:xfrm>
        </p:spPr>
        <p:txBody>
          <a:bodyPr/>
          <a:lstStyle/>
          <a:p>
            <a:r>
              <a:rPr lang="en-US" altLang="en-US" sz="3100" dirty="0">
                <a:ea typeface="ＭＳ Ｐゴシック" panose="020B0600070205080204" pitchFamily="34" charset="-128"/>
              </a:rPr>
              <a:t>Mechanisms that change allele and genotype frequencies in populations:</a:t>
            </a:r>
            <a:r>
              <a:rPr lang="en-US" altLang="en-US" sz="2800" dirty="0">
                <a:ea typeface="ＭＳ Ｐゴシック" panose="020B0600070205080204" pitchFamily="34" charset="-128"/>
              </a:rPr>
              <a:t> </a:t>
            </a:r>
          </a:p>
          <a:p>
            <a:pPr lvl="1"/>
            <a:r>
              <a:rPr lang="en-US" altLang="en-US" sz="2500" dirty="0">
                <a:ea typeface="ＭＳ Ｐゴシック" panose="020B0600070205080204" pitchFamily="34" charset="-128"/>
              </a:rPr>
              <a:t>Natural selection</a:t>
            </a:r>
          </a:p>
          <a:p>
            <a:pPr lvl="1"/>
            <a:r>
              <a:rPr lang="en-US" altLang="en-US" sz="2500" dirty="0">
                <a:ea typeface="ＭＳ Ｐゴシック" panose="020B0600070205080204" pitchFamily="34" charset="-128"/>
              </a:rPr>
              <a:t>Mutation</a:t>
            </a:r>
          </a:p>
          <a:p>
            <a:pPr lvl="1"/>
            <a:r>
              <a:rPr lang="en-US" altLang="en-US" sz="2500" dirty="0">
                <a:ea typeface="ＭＳ Ｐゴシック" panose="020B0600070205080204" pitchFamily="34" charset="-128"/>
              </a:rPr>
              <a:t>Gene flow</a:t>
            </a:r>
          </a:p>
          <a:p>
            <a:pPr lvl="1"/>
            <a:r>
              <a:rPr lang="en-US" altLang="en-US" sz="2500" dirty="0">
                <a:ea typeface="ＭＳ Ｐゴシック" panose="020B0600070205080204" pitchFamily="34" charset="-128"/>
              </a:rPr>
              <a:t>Genetic drift</a:t>
            </a:r>
          </a:p>
          <a:p>
            <a:pPr lvl="1"/>
            <a:r>
              <a:rPr lang="en-US" altLang="en-US" sz="2500" dirty="0">
                <a:ea typeface="ＭＳ Ｐゴシック" panose="020B0600070205080204" pitchFamily="34" charset="-128"/>
              </a:rPr>
              <a:t>Non-random mating (inbreeding and sexual selection)</a:t>
            </a:r>
            <a:endParaRPr lang="en-US" altLang="en-US" sz="2000" dirty="0">
              <a:ea typeface="ＭＳ Ｐゴシック" panose="020B0600070205080204" pitchFamily="34" charset="-128"/>
            </a:endParaRPr>
          </a:p>
          <a:p>
            <a:r>
              <a:rPr lang="en-US" altLang="en-US" sz="3100" dirty="0">
                <a:ea typeface="ＭＳ Ｐゴシック" panose="020B0600070205080204" pitchFamily="34" charset="-128"/>
              </a:rPr>
              <a:t>Natural selection is the </a:t>
            </a:r>
            <a:r>
              <a:rPr lang="en-US" altLang="en-US" sz="3100" u="sng" dirty="0">
                <a:ea typeface="ＭＳ Ｐゴシック" panose="020B0600070205080204" pitchFamily="34" charset="-128"/>
              </a:rPr>
              <a:t>only</a:t>
            </a:r>
            <a:r>
              <a:rPr lang="en-US" altLang="en-US" sz="3100" dirty="0">
                <a:ea typeface="ＭＳ Ｐゴシック" panose="020B0600070205080204" pitchFamily="34" charset="-128"/>
              </a:rPr>
              <a:t> mechanism that results in </a:t>
            </a:r>
            <a:r>
              <a:rPr lang="en-US" altLang="en-US" sz="3100" b="1" dirty="0">
                <a:ea typeface="ＭＳ Ｐゴシック" panose="020B0600070205080204" pitchFamily="34" charset="-128"/>
              </a:rPr>
              <a:t>adaptation</a:t>
            </a:r>
            <a:r>
              <a:rPr lang="en-US" altLang="en-US" sz="3100" dirty="0">
                <a:ea typeface="ＭＳ Ｐゴシック" panose="020B0600070205080204" pitchFamily="34" charset="-128"/>
              </a:rPr>
              <a:t> and leads to </a:t>
            </a:r>
            <a:r>
              <a:rPr lang="en-US" altLang="en-US" sz="3100" b="1" dirty="0">
                <a:ea typeface="ＭＳ Ｐゴシック" panose="020B0600070205080204" pitchFamily="34" charset="-128"/>
              </a:rPr>
              <a:t>increased ___________</a:t>
            </a:r>
            <a:r>
              <a:rPr lang="en-US" altLang="en-US" sz="3100" dirty="0">
                <a:ea typeface="ＭＳ Ｐゴシック" panose="020B0600070205080204" pitchFamily="34" charset="-128"/>
              </a:rPr>
              <a:t>.</a:t>
            </a:r>
            <a:endParaRPr lang="en-US" altLang="en-US" sz="2800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extBox 1">
            <a:extLst>
              <a:ext uri="{FF2B5EF4-FFF2-40B4-BE49-F238E27FC236}">
                <a16:creationId xmlns:a16="http://schemas.microsoft.com/office/drawing/2014/main" id="{C83037C2-246C-5781-02F9-99E0CF4E0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2209800"/>
            <a:ext cx="27479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/>
              <a:t>Break time 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B3C0E587-87FA-7BFA-A3A3-15A7442B30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 altLang="en-US" sz="3200">
                <a:ea typeface="ＭＳ Ｐゴシック" panose="020B0600070205080204" pitchFamily="34" charset="-128"/>
              </a:rPr>
              <a:t>Analyzing Allele Frequency Change: </a:t>
            </a:r>
            <a:br>
              <a:rPr lang="en-US" altLang="en-US" sz="3200">
                <a:ea typeface="ＭＳ Ｐゴシック" panose="020B0600070205080204" pitchFamily="34" charset="-128"/>
              </a:rPr>
            </a:br>
            <a:r>
              <a:rPr lang="en-US" altLang="en-US" sz="3200">
                <a:ea typeface="ＭＳ Ｐゴシック" panose="020B0600070205080204" pitchFamily="34" charset="-128"/>
              </a:rPr>
              <a:t>The Hardy-Weinberg Model</a:t>
            </a:r>
            <a:endParaRPr lang="en-US" altLang="en-US" b="1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5A0681BF-9A07-9017-A42E-8D6D926A53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447800"/>
            <a:ext cx="8839200" cy="1447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Analyzes what happens to the frequencies of two alleles at a single locus when the five evolutionary forces are </a:t>
            </a:r>
            <a:r>
              <a:rPr lang="en-US" altLang="en-US" sz="2400" b="1">
                <a:ea typeface="ＭＳ Ｐゴシック" panose="020B0600070205080204" pitchFamily="34" charset="-128"/>
              </a:rPr>
              <a:t>not</a:t>
            </a:r>
            <a:r>
              <a:rPr lang="en-US" altLang="en-US" sz="2400">
                <a:ea typeface="ＭＳ Ｐゴシック" panose="020B0600070205080204" pitchFamily="34" charset="-128"/>
              </a:rPr>
              <a:t> acting on a population. 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400">
              <a:ea typeface="ＭＳ Ｐゴシック" panose="020B0600070205080204" pitchFamily="34" charset="-128"/>
            </a:endParaRPr>
          </a:p>
        </p:txBody>
      </p:sp>
      <p:sp>
        <p:nvSpPr>
          <p:cNvPr id="79878" name="Text Box 6">
            <a:extLst>
              <a:ext uri="{FF2B5EF4-FFF2-40B4-BE49-F238E27FC236}">
                <a16:creationId xmlns:a16="http://schemas.microsoft.com/office/drawing/2014/main" id="{9443A9CC-5828-C2FB-513F-11CE0D30C4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743200"/>
            <a:ext cx="8534400" cy="145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400"/>
              <a:t>  If allele and genotype frequencies are the </a:t>
            </a:r>
            <a:r>
              <a:rPr lang="en-US" altLang="en-US" sz="2400" b="1"/>
              <a:t>same</a:t>
            </a:r>
            <a:r>
              <a:rPr lang="en-US" altLang="en-US" sz="2400"/>
              <a:t> between a parental and offspring generation, then </a:t>
            </a:r>
            <a:r>
              <a:rPr lang="en-US" altLang="en-US" sz="2400" b="1"/>
              <a:t>no evolution</a:t>
            </a:r>
            <a:r>
              <a:rPr lang="en-US" altLang="en-US" sz="2400"/>
              <a:t> is occurring.  If they change, then evolution is occurring by definition.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79879" name="Text Box 7">
            <a:extLst>
              <a:ext uri="{FF2B5EF4-FFF2-40B4-BE49-F238E27FC236}">
                <a16:creationId xmlns:a16="http://schemas.microsoft.com/office/drawing/2014/main" id="{32744995-FA76-1DF8-EE59-0EA89A4C8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962400"/>
            <a:ext cx="84582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400"/>
              <a:t>Assumes that there is no mutation, migration, genetic drift, selection, or nonrandom mating in the population.  If these conditions are met, the populations are said to be in Hardy-Weinberg equilibrium.</a:t>
            </a:r>
          </a:p>
        </p:txBody>
      </p:sp>
      <p:sp>
        <p:nvSpPr>
          <p:cNvPr id="79880" name="Text Box 8">
            <a:extLst>
              <a:ext uri="{FF2B5EF4-FFF2-40B4-BE49-F238E27FC236}">
                <a16:creationId xmlns:a16="http://schemas.microsoft.com/office/drawing/2014/main" id="{E4B6066F-8767-AB78-F0E5-0FD7C6EEC6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670550"/>
            <a:ext cx="86106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dirty="0"/>
              <a:t>If we want to know if evolution is occurring, we have to </a:t>
            </a:r>
            <a:r>
              <a:rPr lang="en-US" altLang="en-US" sz="2400" b="1" dirty="0"/>
              <a:t>__________ the genetic structure of a population over at least one generation</a:t>
            </a:r>
            <a:r>
              <a:rPr lang="en-US" altLang="en-US" sz="2400" dirty="0"/>
              <a:t>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5" grpId="0" build="p" autoUpdateAnimBg="0"/>
      <p:bldP spid="79878" grpId="0" autoUpdateAnimBg="0"/>
      <p:bldP spid="79879" grpId="0" autoUpdateAnimBg="0"/>
      <p:bldP spid="79880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>
            <a:extLst>
              <a:ext uri="{FF2B5EF4-FFF2-40B4-BE49-F238E27FC236}">
                <a16:creationId xmlns:a16="http://schemas.microsoft.com/office/drawing/2014/main" id="{B2DF3312-AC91-3BB8-BBD4-7C3F83FECB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752600"/>
            <a:ext cx="7772400" cy="1143000"/>
          </a:xfrm>
        </p:spPr>
        <p:txBody>
          <a:bodyPr/>
          <a:lstStyle/>
          <a:p>
            <a:pPr algn="l"/>
            <a:r>
              <a:rPr lang="en-US" altLang="en-US" dirty="0">
                <a:ea typeface="ＭＳ Ｐゴシック" panose="020B0600070205080204" pitchFamily="34" charset="-128"/>
              </a:rPr>
              <a:t>Calculations like what I will present today are in your book on pages 469-470 (sections 19.1 and 19.2)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6CB255"/>
                </a:solidFill>
              </a:rPr>
              <a:t>Figure 19.2 Hardy-Weinberg</a:t>
            </a:r>
          </a:p>
        </p:txBody>
      </p:sp>
      <p:pic>
        <p:nvPicPr>
          <p:cNvPr id="2" name="Picture Placeholder 1" descr="Figure_B19_01_02.png"/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93" b="-593"/>
          <a:stretch>
            <a:fillRect/>
          </a:stretch>
        </p:blipFill>
        <p:spPr>
          <a:xfrm>
            <a:off x="457200" y="1108075"/>
            <a:ext cx="4032250" cy="5256213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4606925" y="1107617"/>
            <a:ext cx="3913188" cy="5256973"/>
          </a:xfrm>
        </p:spPr>
        <p:txBody>
          <a:bodyPr>
            <a:no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When populations are in the Hardy-Weinberg equilibrium, the allelic frequency is stable from generation to generation and the distribution of alleles can be determined from the Hardy-Weinberg equation. If the allelic frequency measured in the field differs from the predicted value, scientists can make inferences about what evolutionary forces are at play.</a:t>
            </a:r>
          </a:p>
          <a:p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0963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ext Box 2">
            <a:extLst>
              <a:ext uri="{FF2B5EF4-FFF2-40B4-BE49-F238E27FC236}">
                <a16:creationId xmlns:a16="http://schemas.microsoft.com/office/drawing/2014/main" id="{12BFB739-DD7B-B5B1-06E0-A979A60A15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8600"/>
            <a:ext cx="8229600" cy="6463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/>
              <a:t>Basic equations and items to know: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p = frequency of allele 1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q = frequency of allele 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p</a:t>
            </a:r>
            <a:r>
              <a:rPr lang="en-US" altLang="en-US" sz="1800" baseline="30000" dirty="0"/>
              <a:t>2</a:t>
            </a:r>
            <a:r>
              <a:rPr lang="en-US" altLang="en-US" sz="1800" dirty="0"/>
              <a:t> = frequency of the p homozygotes.       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2pq = frequency of heterozygotes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q</a:t>
            </a:r>
            <a:r>
              <a:rPr lang="en-US" altLang="en-US" sz="1800" baseline="30000" dirty="0"/>
              <a:t>2</a:t>
            </a:r>
            <a:r>
              <a:rPr lang="en-US" altLang="en-US" sz="1800" dirty="0"/>
              <a:t> = frequency of the q homozygotes.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/>
              <a:t>Calculations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u="sng" dirty="0"/>
              <a:t>Allele frequencies</a:t>
            </a:r>
            <a:r>
              <a:rPr lang="en-US" altLang="en-US" sz="1800" dirty="0"/>
              <a:t>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/>
              <a:t>p + q = 1</a:t>
            </a:r>
            <a:r>
              <a:rPr lang="en-US" altLang="en-US" sz="1800" dirty="0"/>
              <a:t>  (Realize that if you know one allele frequency, you can calculate the other directly if there are only two alleles).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If you know all the genotype frequencies, you can calculate the allele frequencies quickly: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p= p</a:t>
            </a:r>
            <a:r>
              <a:rPr lang="en-US" altLang="en-US" sz="1800" baseline="30000" dirty="0"/>
              <a:t>2</a:t>
            </a:r>
            <a:r>
              <a:rPr lang="en-US" altLang="en-US" sz="1800" dirty="0"/>
              <a:t>+(1/2)2pq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/>
              <a:t>q= q</a:t>
            </a:r>
            <a:r>
              <a:rPr lang="en-US" altLang="en-US" sz="1800" baseline="30000" dirty="0"/>
              <a:t>2</a:t>
            </a:r>
            <a:r>
              <a:rPr lang="en-US" altLang="en-US" sz="1800" dirty="0"/>
              <a:t>+(1/2)2pq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u="sng" dirty="0" err="1"/>
              <a:t>Genototype</a:t>
            </a:r>
            <a:r>
              <a:rPr lang="en-US" altLang="en-US" sz="1800" u="sng" dirty="0"/>
              <a:t> frequencies</a:t>
            </a:r>
            <a:r>
              <a:rPr lang="en-US" altLang="en-US" sz="1800" dirty="0"/>
              <a:t>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/>
              <a:t>p</a:t>
            </a:r>
            <a:r>
              <a:rPr lang="en-US" altLang="en-US" sz="1800" b="1" baseline="30000" dirty="0"/>
              <a:t>2</a:t>
            </a:r>
            <a:r>
              <a:rPr lang="en-US" altLang="en-US" sz="1800" b="1" dirty="0"/>
              <a:t>+ 2pq + q</a:t>
            </a:r>
            <a:r>
              <a:rPr lang="en-US" altLang="en-US" sz="1800" b="1" baseline="30000" dirty="0"/>
              <a:t>2</a:t>
            </a:r>
            <a:r>
              <a:rPr lang="en-US" altLang="en-US" sz="1800" b="1" dirty="0"/>
              <a:t> = 1  </a:t>
            </a:r>
            <a:endParaRPr lang="en-US" altLang="en-US" sz="18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21E7C4-CD98-85E8-D13E-C86EF54FE7E9}"/>
              </a:ext>
            </a:extLst>
          </p:cNvPr>
          <p:cNvSpPr txBox="1"/>
          <p:nvPr/>
        </p:nvSpPr>
        <p:spPr>
          <a:xfrm>
            <a:off x="5486400" y="1219200"/>
            <a:ext cx="3657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dirty="0"/>
              <a:t>These values can be </a:t>
            </a:r>
            <a:r>
              <a:rPr lang="en-US" altLang="en-US" sz="1600" u="sng" dirty="0"/>
              <a:t>measured</a:t>
            </a:r>
            <a:r>
              <a:rPr lang="en-US" altLang="en-US" sz="1600" dirty="0"/>
              <a:t> from populations in nature (to get </a:t>
            </a:r>
            <a:r>
              <a:rPr lang="en-US" altLang="en-US" sz="1600" b="1" u="sng" dirty="0"/>
              <a:t>observed</a:t>
            </a:r>
            <a:r>
              <a:rPr lang="en-US" altLang="en-US" sz="1600" dirty="0"/>
              <a:t> values) or </a:t>
            </a:r>
            <a:r>
              <a:rPr lang="en-US" altLang="en-US" sz="1600" u="sng" dirty="0"/>
              <a:t>calculated</a:t>
            </a:r>
            <a:r>
              <a:rPr lang="en-US" altLang="en-US" sz="1600" dirty="0"/>
              <a:t> (to get </a:t>
            </a:r>
            <a:r>
              <a:rPr lang="en-US" altLang="en-US" sz="1600" b="1" u="sng" dirty="0"/>
              <a:t>expected</a:t>
            </a:r>
            <a:r>
              <a:rPr lang="en-US" altLang="en-US" sz="1600" dirty="0"/>
              <a:t> values)</a:t>
            </a:r>
            <a:endParaRPr lang="en-US" sz="16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89FBD13-43BF-66A9-0D40-AEDF4C9FC117}"/>
              </a:ext>
            </a:extLst>
          </p:cNvPr>
          <p:cNvCxnSpPr/>
          <p:nvPr/>
        </p:nvCxnSpPr>
        <p:spPr bwMode="auto">
          <a:xfrm flipH="1" flipV="1">
            <a:off x="3505200" y="1143000"/>
            <a:ext cx="1600200" cy="304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D94039C-0690-DCEF-C7E6-048426869432}"/>
              </a:ext>
            </a:extLst>
          </p:cNvPr>
          <p:cNvCxnSpPr>
            <a:cxnSpLocks/>
          </p:cNvCxnSpPr>
          <p:nvPr/>
        </p:nvCxnSpPr>
        <p:spPr bwMode="auto">
          <a:xfrm flipH="1">
            <a:off x="3962400" y="1828800"/>
            <a:ext cx="1371600" cy="228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ext Box 1026">
            <a:extLst>
              <a:ext uri="{FF2B5EF4-FFF2-40B4-BE49-F238E27FC236}">
                <a16:creationId xmlns:a16="http://schemas.microsoft.com/office/drawing/2014/main" id="{A43704CF-F80E-0B95-2797-822F54403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990600"/>
            <a:ext cx="8229600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400"/>
              <a:t>Be sure you understand what </a:t>
            </a:r>
            <a:r>
              <a:rPr lang="en-US" altLang="en-US" sz="2400" u="sng"/>
              <a:t>allele frequencies</a:t>
            </a:r>
            <a:r>
              <a:rPr lang="en-US" altLang="en-US" sz="2400"/>
              <a:t> are and what </a:t>
            </a:r>
            <a:r>
              <a:rPr lang="en-US" altLang="en-US" sz="2400" u="sng"/>
              <a:t>genotype frequencies</a:t>
            </a:r>
            <a:r>
              <a:rPr lang="en-US" altLang="en-US" sz="2400"/>
              <a:t> are.  </a:t>
            </a:r>
          </a:p>
          <a:p>
            <a:pPr>
              <a:spcBef>
                <a:spcPct val="0"/>
              </a:spcBef>
            </a:pPr>
            <a:endParaRPr lang="en-US" altLang="en-US" sz="2400"/>
          </a:p>
          <a:p>
            <a:pPr>
              <a:spcBef>
                <a:spcPct val="0"/>
              </a:spcBef>
            </a:pPr>
            <a:r>
              <a:rPr lang="en-US" altLang="en-US" sz="2400"/>
              <a:t>Understand which equations go with which. </a:t>
            </a:r>
          </a:p>
          <a:p>
            <a:pPr>
              <a:spcBef>
                <a:spcPct val="0"/>
              </a:spcBef>
            </a:pPr>
            <a:endParaRPr lang="en-US" altLang="en-US" sz="2400"/>
          </a:p>
          <a:p>
            <a:pPr>
              <a:spcBef>
                <a:spcPct val="0"/>
              </a:spcBef>
            </a:pPr>
            <a:r>
              <a:rPr lang="en-US" altLang="en-US" sz="2400"/>
              <a:t>Be sure you can move from equation to the next given limited data.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extBox 1">
            <a:extLst>
              <a:ext uri="{FF2B5EF4-FFF2-40B4-BE49-F238E27FC236}">
                <a16:creationId xmlns:a16="http://schemas.microsoft.com/office/drawing/2014/main" id="{0650364B-6416-C6C6-0C9B-A618E5F4A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524000"/>
            <a:ext cx="8001000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/>
              <a:t>The point of all this is to have a ____________ against which we can detect allele frequency changes, and thus infer that  evolution is happening. 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dirty="0"/>
              <a:t>Certain patterns of allele changes are characteristic of certain kinds of evolution.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ext Box 2">
            <a:extLst>
              <a:ext uri="{FF2B5EF4-FFF2-40B4-BE49-F238E27FC236}">
                <a16:creationId xmlns:a16="http://schemas.microsoft.com/office/drawing/2014/main" id="{AEAFE8EA-4C49-0E59-64ED-8ED18DFE11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1050925"/>
            <a:ext cx="7635875" cy="526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Typical examples: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  <a:p>
            <a:pPr>
              <a:spcBef>
                <a:spcPct val="0"/>
              </a:spcBef>
              <a:buFont typeface="Times" pitchFamily="2" charset="0"/>
              <a:buAutoNum type="arabicPeriod"/>
            </a:pPr>
            <a:endParaRPr lang="en-US" altLang="en-US" sz="2400"/>
          </a:p>
          <a:p>
            <a:pPr>
              <a:spcBef>
                <a:spcPct val="0"/>
              </a:spcBef>
              <a:buFont typeface="Times" pitchFamily="2" charset="0"/>
              <a:buAutoNum type="arabicPeriod"/>
            </a:pPr>
            <a:r>
              <a:rPr lang="en-US" altLang="en-US" sz="2400"/>
              <a:t>How to determine if a population is in Hardy-Weinberg equilibrium or not.  If not, why not?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  <a:p>
            <a:pPr>
              <a:spcBef>
                <a:spcPct val="0"/>
              </a:spcBef>
              <a:buFont typeface="Times" pitchFamily="2" charset="0"/>
              <a:buAutoNum type="arabicPeriod"/>
            </a:pPr>
            <a:r>
              <a:rPr lang="en-US" altLang="en-US" sz="2400"/>
              <a:t>How to calculate allele and genotype frequencies from data on people displaying a recessive phenotype (and how to calculate the frequency of </a:t>
            </a:r>
            <a:r>
              <a:rPr lang="ja-JP" altLang="en-US" sz="2400"/>
              <a:t>“</a:t>
            </a:r>
            <a:r>
              <a:rPr lang="en-US" altLang="ja-JP" sz="2400"/>
              <a:t>carriers</a:t>
            </a:r>
            <a:r>
              <a:rPr lang="ja-JP" altLang="en-US" sz="2400"/>
              <a:t>”</a:t>
            </a:r>
            <a:r>
              <a:rPr lang="en-US" altLang="ja-JP" sz="2400"/>
              <a:t>).</a:t>
            </a:r>
          </a:p>
          <a:p>
            <a:pPr>
              <a:spcBef>
                <a:spcPct val="0"/>
              </a:spcBef>
              <a:buFont typeface="Times" pitchFamily="2" charset="0"/>
              <a:buAutoNum type="arabicPeriod"/>
            </a:pPr>
            <a:endParaRPr lang="en-US" altLang="en-US" sz="2400"/>
          </a:p>
          <a:p>
            <a:pPr>
              <a:spcBef>
                <a:spcPct val="0"/>
              </a:spcBef>
              <a:buFont typeface="Times" pitchFamily="2" charset="0"/>
              <a:buAutoNum type="arabicPeriod"/>
            </a:pPr>
            <a:endParaRPr lang="en-US" altLang="en-US" sz="2400"/>
          </a:p>
          <a:p>
            <a:pPr>
              <a:spcBef>
                <a:spcPct val="0"/>
              </a:spcBef>
              <a:buFont typeface="Times" pitchFamily="2" charset="0"/>
              <a:buAutoNum type="arabicPeriod"/>
            </a:pPr>
            <a:endParaRPr lang="en-US" altLang="en-US" sz="2400"/>
          </a:p>
          <a:p>
            <a:pPr>
              <a:spcBef>
                <a:spcPct val="0"/>
              </a:spcBef>
              <a:buFont typeface="Times" pitchFamily="2" charset="0"/>
              <a:buNone/>
            </a:pPr>
            <a:r>
              <a:rPr lang="en-US" altLang="en-US" sz="2400"/>
              <a:t>You should be able to go back and forth from each equation to the next.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ext Box 1026">
            <a:extLst>
              <a:ext uri="{FF2B5EF4-FFF2-40B4-BE49-F238E27FC236}">
                <a16:creationId xmlns:a16="http://schemas.microsoft.com/office/drawing/2014/main" id="{38B9EDCE-0E74-A0BB-1DFF-2823AA6B86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28600"/>
            <a:ext cx="8153400" cy="6740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u="sng" dirty="0">
                <a:latin typeface="Comic Sans MS" panose="030F0902030302020204" pitchFamily="66" charset="0"/>
              </a:rPr>
              <a:t>Fun with population data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u="sng" dirty="0">
                <a:latin typeface="Comic Sans MS" panose="030F0902030302020204" pitchFamily="66" charset="0"/>
              </a:rPr>
              <a:t>	AA	Aa	aa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Comic Sans MS" panose="030F0902030302020204" pitchFamily="66" charset="0"/>
              </a:rPr>
              <a:t>a.	36	48	16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Comic Sans MS" panose="030F0902030302020204" pitchFamily="66" charset="0"/>
              </a:rPr>
              <a:t>b.	5	90	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dirty="0">
              <a:latin typeface="Comic Sans MS" panose="030F0902030302020204" pitchFamily="66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Comic Sans MS" panose="030F0902030302020204" pitchFamily="66" charset="0"/>
              </a:rPr>
              <a:t>Which population is in HW equilibrium?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dirty="0">
              <a:latin typeface="Comic Sans MS" panose="030F0902030302020204" pitchFamily="66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dirty="0">
                <a:latin typeface="Comic Sans MS" panose="030F0902030302020204" pitchFamily="66" charset="0"/>
              </a:rPr>
              <a:t>Compare </a:t>
            </a:r>
            <a:r>
              <a:rPr lang="en-US" altLang="en-US" sz="2400" b="1" u="sng" dirty="0">
                <a:latin typeface="Comic Sans MS" panose="030F0902030302020204" pitchFamily="66" charset="0"/>
              </a:rPr>
              <a:t>observed</a:t>
            </a:r>
            <a:r>
              <a:rPr lang="en-US" altLang="en-US" sz="2400" b="1" dirty="0">
                <a:latin typeface="Comic Sans MS" panose="030F0902030302020204" pitchFamily="66" charset="0"/>
              </a:rPr>
              <a:t> data (above) to </a:t>
            </a:r>
            <a:r>
              <a:rPr lang="en-US" altLang="en-US" sz="2400" b="1" u="sng" dirty="0">
                <a:latin typeface="Comic Sans MS" panose="030F0902030302020204" pitchFamily="66" charset="0"/>
              </a:rPr>
              <a:t>expected</a:t>
            </a:r>
            <a:r>
              <a:rPr lang="en-US" altLang="en-US" sz="2400" b="1" dirty="0">
                <a:latin typeface="Comic Sans MS" panose="030F0902030302020204" pitchFamily="66" charset="0"/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dirty="0">
                <a:latin typeface="Comic Sans MS" panose="030F0902030302020204" pitchFamily="66" charset="0"/>
              </a:rPr>
              <a:t>frequencies that you derive from those data</a:t>
            </a:r>
            <a:r>
              <a:rPr lang="en-US" altLang="en-US" sz="2400" dirty="0">
                <a:latin typeface="Comic Sans MS" panose="030F0902030302020204" pitchFamily="66" charset="0"/>
              </a:rPr>
              <a:t>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dirty="0">
              <a:latin typeface="Comic Sans MS" panose="030F0902030302020204" pitchFamily="66" charset="0"/>
            </a:endParaRPr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en-US" sz="2400" dirty="0">
                <a:latin typeface="Comic Sans MS" panose="030F0902030302020204" pitchFamily="66" charset="0"/>
              </a:rPr>
              <a:t>Compute the observed genotype frequencies</a:t>
            </a:r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en-US" sz="2400" dirty="0">
                <a:latin typeface="Comic Sans MS" panose="030F0902030302020204" pitchFamily="66" charset="0"/>
              </a:rPr>
              <a:t>Compute the observed allele frequencies</a:t>
            </a:r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en-US" sz="2400" dirty="0">
                <a:latin typeface="Comic Sans MS" panose="030F0902030302020204" pitchFamily="66" charset="0"/>
              </a:rPr>
              <a:t>Compute the expected genotype frequencies based on the observed allele frequencies</a:t>
            </a:r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en-US" sz="2400" dirty="0">
                <a:latin typeface="Comic Sans MS" panose="030F0902030302020204" pitchFamily="66" charset="0"/>
              </a:rPr>
              <a:t>Compare the observed genotype frequencies to the expected genotype frequencies.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dirty="0">
              <a:latin typeface="Comic Sans MS" panose="030F0902030302020204" pitchFamily="66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ext Box 2">
            <a:extLst>
              <a:ext uri="{FF2B5EF4-FFF2-40B4-BE49-F238E27FC236}">
                <a16:creationId xmlns:a16="http://schemas.microsoft.com/office/drawing/2014/main" id="{9F925DB3-D55B-D394-B067-FF560AA86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135572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60418" name="Text Box 3">
            <a:extLst>
              <a:ext uri="{FF2B5EF4-FFF2-40B4-BE49-F238E27FC236}">
                <a16:creationId xmlns:a16="http://schemas.microsoft.com/office/drawing/2014/main" id="{62356CC8-91E0-E79C-1CBD-4A8278933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1050925"/>
            <a:ext cx="7292381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Genetic counseling questions: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1/10,000 people are born with PKU. 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dirty="0"/>
          </a:p>
          <a:p>
            <a:pPr>
              <a:spcBef>
                <a:spcPct val="0"/>
              </a:spcBef>
            </a:pPr>
            <a:r>
              <a:rPr lang="en-US" altLang="en-US" sz="2400" dirty="0"/>
              <a:t>What is the frequency of the defective PKU allele?</a:t>
            </a:r>
          </a:p>
          <a:p>
            <a:pPr>
              <a:spcBef>
                <a:spcPct val="0"/>
              </a:spcBef>
            </a:pPr>
            <a:endParaRPr lang="en-US" altLang="en-US" sz="2400" dirty="0"/>
          </a:p>
          <a:p>
            <a:pPr>
              <a:spcBef>
                <a:spcPct val="0"/>
              </a:spcBef>
            </a:pPr>
            <a:r>
              <a:rPr lang="en-US" altLang="en-US" sz="2400" dirty="0"/>
              <a:t>What is the frequency of </a:t>
            </a:r>
            <a:r>
              <a:rPr lang="ja-JP" altLang="en-US" sz="2400"/>
              <a:t>“</a:t>
            </a:r>
            <a:r>
              <a:rPr lang="en-US" altLang="ja-JP" sz="2400" dirty="0"/>
              <a:t>carriers</a:t>
            </a:r>
            <a:r>
              <a:rPr lang="ja-JP" altLang="en-US" sz="2400"/>
              <a:t>”</a:t>
            </a:r>
            <a:r>
              <a:rPr lang="en-US" altLang="ja-JP" sz="2400" dirty="0"/>
              <a:t> (i.e., heterozygotes)?</a:t>
            </a:r>
            <a:endParaRPr lang="en-US" altLang="en-US" sz="2400" dirty="0"/>
          </a:p>
        </p:txBody>
      </p:sp>
      <p:sp>
        <p:nvSpPr>
          <p:cNvPr id="60419" name="TextBox 3">
            <a:extLst>
              <a:ext uri="{FF2B5EF4-FFF2-40B4-BE49-F238E27FC236}">
                <a16:creationId xmlns:a16="http://schemas.microsoft.com/office/drawing/2014/main" id="{94E44BD0-5639-A193-66AA-5779C956B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724400"/>
            <a:ext cx="8001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This is a common calculation made by genetic counselors.  You have to </a:t>
            </a:r>
            <a:r>
              <a:rPr lang="en-US" altLang="en-US" sz="2400" b="1"/>
              <a:t>assume</a:t>
            </a:r>
            <a:r>
              <a:rPr lang="en-US" altLang="en-US" sz="2400"/>
              <a:t> the population is in HW equilibrium to do this calculation.  </a:t>
            </a:r>
            <a:r>
              <a:rPr lang="en-US" altLang="en-US" sz="2400" u="sng"/>
              <a:t>Don’t do that</a:t>
            </a:r>
            <a:r>
              <a:rPr lang="en-US" altLang="en-US" sz="2400"/>
              <a:t> unless I tell you that it’s OK!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extBox 2">
            <a:extLst>
              <a:ext uri="{FF2B5EF4-FFF2-40B4-BE49-F238E27FC236}">
                <a16:creationId xmlns:a16="http://schemas.microsoft.com/office/drawing/2014/main" id="{F12351AD-56DE-5D40-6E70-E422EBCBB9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990600"/>
            <a:ext cx="8382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Problem sets like these are posted with the notes for practice.  An answer key is also provided.  If you cannot do these problems, ask for help!!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>
            <a:extLst>
              <a:ext uri="{FF2B5EF4-FFF2-40B4-BE49-F238E27FC236}">
                <a16:creationId xmlns:a16="http://schemas.microsoft.com/office/drawing/2014/main" id="{D5594FDB-C950-CE78-E121-2777879B0A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Remember: Mechanisms of Evolutionary Change </a:t>
            </a:r>
          </a:p>
        </p:txBody>
      </p:sp>
      <p:sp>
        <p:nvSpPr>
          <p:cNvPr id="65538" name="Rectangle 3">
            <a:extLst>
              <a:ext uri="{FF2B5EF4-FFF2-40B4-BE49-F238E27FC236}">
                <a16:creationId xmlns:a16="http://schemas.microsoft.com/office/drawing/2014/main" id="{7CE27D62-D093-CF9D-50CF-6DE35280F7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668463"/>
            <a:ext cx="9144000" cy="4876800"/>
          </a:xfrm>
        </p:spPr>
        <p:txBody>
          <a:bodyPr/>
          <a:lstStyle/>
          <a:p>
            <a:r>
              <a:rPr lang="en-US" altLang="en-US" sz="3100">
                <a:ea typeface="ＭＳ Ｐゴシック" panose="020B0600070205080204" pitchFamily="34" charset="-128"/>
              </a:rPr>
              <a:t>Mechanisms that </a:t>
            </a:r>
            <a:r>
              <a:rPr lang="en-US" altLang="en-US" sz="3100" b="1">
                <a:ea typeface="ＭＳ Ｐゴシック" panose="020B0600070205080204" pitchFamily="34" charset="-128"/>
              </a:rPr>
              <a:t>change allele and genotype frequencies</a:t>
            </a:r>
            <a:r>
              <a:rPr lang="en-US" altLang="en-US" sz="3100">
                <a:ea typeface="ＭＳ Ｐゴシック" panose="020B0600070205080204" pitchFamily="34" charset="-128"/>
              </a:rPr>
              <a:t> in populations:</a:t>
            </a:r>
            <a:r>
              <a:rPr lang="en-US" altLang="en-US" sz="2800">
                <a:ea typeface="ＭＳ Ｐゴシック" panose="020B0600070205080204" pitchFamily="34" charset="-128"/>
              </a:rPr>
              <a:t> </a:t>
            </a:r>
          </a:p>
          <a:p>
            <a:pPr lvl="1"/>
            <a:r>
              <a:rPr lang="en-US" altLang="en-US" sz="2500">
                <a:ea typeface="ＭＳ Ｐゴシック" panose="020B0600070205080204" pitchFamily="34" charset="-128"/>
              </a:rPr>
              <a:t>Natural selection</a:t>
            </a:r>
          </a:p>
          <a:p>
            <a:pPr lvl="1"/>
            <a:r>
              <a:rPr lang="en-US" altLang="en-US" sz="2500">
                <a:ea typeface="ＭＳ Ｐゴシック" panose="020B0600070205080204" pitchFamily="34" charset="-128"/>
              </a:rPr>
              <a:t>Mutation</a:t>
            </a:r>
          </a:p>
          <a:p>
            <a:pPr lvl="1"/>
            <a:r>
              <a:rPr lang="en-US" altLang="en-US" sz="2500">
                <a:ea typeface="ＭＳ Ｐゴシック" panose="020B0600070205080204" pitchFamily="34" charset="-128"/>
              </a:rPr>
              <a:t>Gene flow</a:t>
            </a:r>
          </a:p>
          <a:p>
            <a:pPr lvl="1"/>
            <a:r>
              <a:rPr lang="en-US" altLang="en-US" sz="2500">
                <a:ea typeface="ＭＳ Ｐゴシック" panose="020B0600070205080204" pitchFamily="34" charset="-128"/>
              </a:rPr>
              <a:t>Genetic drift</a:t>
            </a:r>
          </a:p>
          <a:p>
            <a:pPr lvl="1"/>
            <a:r>
              <a:rPr lang="en-US" altLang="en-US" sz="2500">
                <a:ea typeface="ＭＳ Ｐゴシック" panose="020B0600070205080204" pitchFamily="34" charset="-128"/>
              </a:rPr>
              <a:t>Non-random mating</a:t>
            </a:r>
            <a:endParaRPr lang="en-US" altLang="en-US" sz="2000">
              <a:ea typeface="ＭＳ Ｐゴシック" panose="020B0600070205080204" pitchFamily="34" charset="-128"/>
            </a:endParaRPr>
          </a:p>
          <a:p>
            <a:r>
              <a:rPr lang="en-US" altLang="en-US" sz="3100">
                <a:ea typeface="ＭＳ Ｐゴシック" panose="020B0600070205080204" pitchFamily="34" charset="-128"/>
              </a:rPr>
              <a:t>Natural selection is the </a:t>
            </a:r>
            <a:r>
              <a:rPr lang="en-US" altLang="en-US" sz="3100" u="sng">
                <a:ea typeface="ＭＳ Ｐゴシック" panose="020B0600070205080204" pitchFamily="34" charset="-128"/>
              </a:rPr>
              <a:t>only</a:t>
            </a:r>
            <a:r>
              <a:rPr lang="en-US" altLang="en-US" sz="3100">
                <a:ea typeface="ＭＳ Ｐゴシック" panose="020B0600070205080204" pitchFamily="34" charset="-128"/>
              </a:rPr>
              <a:t> mechanism that results in </a:t>
            </a:r>
            <a:r>
              <a:rPr lang="en-US" altLang="en-US" sz="3100" b="1">
                <a:ea typeface="ＭＳ Ｐゴシック" panose="020B0600070205080204" pitchFamily="34" charset="-128"/>
              </a:rPr>
              <a:t>adaptation</a:t>
            </a:r>
            <a:r>
              <a:rPr lang="en-US" altLang="en-US" sz="3100">
                <a:ea typeface="ＭＳ Ｐゴシック" panose="020B0600070205080204" pitchFamily="34" charset="-128"/>
              </a:rPr>
              <a:t> and leads to </a:t>
            </a:r>
            <a:r>
              <a:rPr lang="en-US" altLang="en-US" sz="3100" b="1">
                <a:ea typeface="ＭＳ Ｐゴシック" panose="020B0600070205080204" pitchFamily="34" charset="-128"/>
              </a:rPr>
              <a:t>increased fitness</a:t>
            </a:r>
            <a:r>
              <a:rPr lang="en-US" altLang="en-US" sz="3100">
                <a:ea typeface="ＭＳ Ｐゴシック" panose="020B0600070205080204" pitchFamily="34" charset="-128"/>
              </a:rPr>
              <a:t>.</a:t>
            </a:r>
            <a:endParaRPr lang="en-US" altLang="en-US" sz="28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VERSION" val="5"/>
  <p:tag name="TPFULLVERSION" val="05020.17.03"/>
  <p:tag name="PPTVERSION" val="14"/>
  <p:tag name="TPOS" val="6"/>
</p:tagLst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pitchFamily="2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pitchFamily="2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0Macintosh HD:Applications:Microsoft Office 98:Templates:Blank Presentation</Template>
  <TotalTime>21068</TotalTime>
  <Words>1224</Words>
  <Application>Microsoft Macintosh PowerPoint</Application>
  <PresentationFormat>On-screen Show (4:3)</PresentationFormat>
  <Paragraphs>178</Paragraphs>
  <Slides>32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Comic Sans MS</vt:lpstr>
      <vt:lpstr>Times</vt:lpstr>
      <vt:lpstr>Blank Presentation</vt:lpstr>
      <vt:lpstr>Population genetics problem set </vt:lpstr>
      <vt:lpstr>Evolutionary processes  Evolution is understood today in terms of _________</vt:lpstr>
      <vt:lpstr>PowerPoint Presentation</vt:lpstr>
      <vt:lpstr>PowerPoint Presentation</vt:lpstr>
      <vt:lpstr>PowerPoint Presentation</vt:lpstr>
      <vt:lpstr>Individuals have a genotype: Populations have ___________ structure</vt:lpstr>
      <vt:lpstr>PowerPoint Presentation</vt:lpstr>
      <vt:lpstr>PowerPoint Presentation</vt:lpstr>
      <vt:lpstr>Where does variation come from?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Mechanisms of Evolutionary Change</vt:lpstr>
      <vt:lpstr>Mechanisms of Evolutionary Change</vt:lpstr>
      <vt:lpstr>PowerPoint Presentation</vt:lpstr>
      <vt:lpstr>Analyzing Allele Frequency Change:  The Hardy-Weinberg Model</vt:lpstr>
      <vt:lpstr>Calculations like what I will present today are in your book on pages 469-470 (sections 19.1 and 19.2)</vt:lpstr>
      <vt:lpstr>Figure 19.2 Hardy-Weinberg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Remember: Mechanisms of Evolutionary Change </vt:lpstr>
    </vt:vector>
  </TitlesOfParts>
  <Company>Duquesne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David Lampe</dc:creator>
  <cp:lastModifiedBy>Dr. David Lampe</cp:lastModifiedBy>
  <cp:revision>117</cp:revision>
  <cp:lastPrinted>2014-01-16T12:23:47Z</cp:lastPrinted>
  <dcterms:created xsi:type="dcterms:W3CDTF">2014-01-08T15:48:04Z</dcterms:created>
  <dcterms:modified xsi:type="dcterms:W3CDTF">2024-01-17T15:43:07Z</dcterms:modified>
</cp:coreProperties>
</file>