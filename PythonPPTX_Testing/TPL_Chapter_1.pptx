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42"/>
  </p:notesMasterIdLst>
  <p:sldIdLst>
    <p:sldId id="256" r:id="rId2"/>
    <p:sldId id="292" r:id="rId3"/>
    <p:sldId id="259" r:id="rId4"/>
    <p:sldId id="260" r:id="rId5"/>
    <p:sldId id="301" r:id="rId6"/>
    <p:sldId id="302" r:id="rId7"/>
    <p:sldId id="261" r:id="rId8"/>
    <p:sldId id="307" r:id="rId9"/>
    <p:sldId id="262" r:id="rId10"/>
    <p:sldId id="293" r:id="rId11"/>
    <p:sldId id="280" r:id="rId12"/>
    <p:sldId id="295" r:id="rId13"/>
    <p:sldId id="296" r:id="rId14"/>
    <p:sldId id="294" r:id="rId15"/>
    <p:sldId id="264" r:id="rId16"/>
    <p:sldId id="281" r:id="rId17"/>
    <p:sldId id="265" r:id="rId18"/>
    <p:sldId id="282" r:id="rId19"/>
    <p:sldId id="271" r:id="rId20"/>
    <p:sldId id="269" r:id="rId21"/>
    <p:sldId id="266" r:id="rId22"/>
    <p:sldId id="268" r:id="rId23"/>
    <p:sldId id="283" r:id="rId24"/>
    <p:sldId id="267" r:id="rId25"/>
    <p:sldId id="291" r:id="rId26"/>
    <p:sldId id="308" r:id="rId27"/>
    <p:sldId id="273" r:id="rId28"/>
    <p:sldId id="272" r:id="rId29"/>
    <p:sldId id="284" r:id="rId30"/>
    <p:sldId id="274" r:id="rId31"/>
    <p:sldId id="286" r:id="rId32"/>
    <p:sldId id="287" r:id="rId33"/>
    <p:sldId id="275" r:id="rId34"/>
    <p:sldId id="276" r:id="rId35"/>
    <p:sldId id="277" r:id="rId36"/>
    <p:sldId id="278" r:id="rId37"/>
    <p:sldId id="288" r:id="rId38"/>
    <p:sldId id="289" r:id="rId39"/>
    <p:sldId id="279" r:id="rId40"/>
    <p:sldId id="290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EAEAEA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75" autoAdjust="0"/>
  </p:normalViewPr>
  <p:slideViewPr>
    <p:cSldViewPr>
      <p:cViewPr varScale="1">
        <p:scale>
          <a:sx n="85" d="100"/>
          <a:sy n="85" d="100"/>
        </p:scale>
        <p:origin x="64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Jackson" userId="510c00cb-ffc5-486c-89de-988638347f74" providerId="ADAL" clId="{68D584C7-7D8A-4064-BBF4-927CDDB31C78}"/>
    <pc:docChg chg="undo custSel addSld delSld modSld">
      <pc:chgData name="Jeff Jackson" userId="510c00cb-ffc5-486c-89de-988638347f74" providerId="ADAL" clId="{68D584C7-7D8A-4064-BBF4-927CDDB31C78}" dt="2025-08-30T21:47:47.257" v="80" actId="47"/>
      <pc:docMkLst>
        <pc:docMk/>
      </pc:docMkLst>
      <pc:sldChg chg="modSp">
        <pc:chgData name="Jeff Jackson" userId="510c00cb-ffc5-486c-89de-988638347f74" providerId="ADAL" clId="{68D584C7-7D8A-4064-BBF4-927CDDB31C78}" dt="2025-08-23T17:38:11.489" v="72" actId="14100"/>
        <pc:sldMkLst>
          <pc:docMk/>
          <pc:sldMk cId="0" sldId="261"/>
        </pc:sldMkLst>
        <pc:spChg chg="mod">
          <ac:chgData name="Jeff Jackson" userId="510c00cb-ffc5-486c-89de-988638347f74" providerId="ADAL" clId="{68D584C7-7D8A-4064-BBF4-927CDDB31C78}" dt="2025-08-23T17:38:11.489" v="72" actId="14100"/>
          <ac:spMkLst>
            <pc:docMk/>
            <pc:sldMk cId="0" sldId="261"/>
            <ac:spMk id="7173" creationId="{47F3E455-9E90-4840-8550-266F6715B3AE}"/>
          </ac:spMkLst>
        </pc:spChg>
      </pc:sldChg>
      <pc:sldChg chg="del">
        <pc:chgData name="Jeff Jackson" userId="510c00cb-ffc5-486c-89de-988638347f74" providerId="ADAL" clId="{68D584C7-7D8A-4064-BBF4-927CDDB31C78}" dt="2025-08-28T19:51:26.069" v="76" actId="2696"/>
        <pc:sldMkLst>
          <pc:docMk/>
          <pc:sldMk cId="90985729" sldId="269"/>
        </pc:sldMkLst>
      </pc:sldChg>
      <pc:sldChg chg="add">
        <pc:chgData name="Jeff Jackson" userId="510c00cb-ffc5-486c-89de-988638347f74" providerId="ADAL" clId="{68D584C7-7D8A-4064-BBF4-927CDDB31C78}" dt="2025-08-28T19:51:34.817" v="77"/>
        <pc:sldMkLst>
          <pc:docMk/>
          <pc:sldMk cId="90985729" sldId="269"/>
        </pc:sldMkLst>
      </pc:sldChg>
      <pc:sldChg chg="add del">
        <pc:chgData name="Jeff Jackson" userId="510c00cb-ffc5-486c-89de-988638347f74" providerId="ADAL" clId="{68D584C7-7D8A-4064-BBF4-927CDDB31C78}" dt="2025-08-28T19:49:26.179" v="75" actId="47"/>
        <pc:sldMkLst>
          <pc:docMk/>
          <pc:sldMk cId="0" sldId="297"/>
        </pc:sldMkLst>
      </pc:sldChg>
      <pc:sldChg chg="del">
        <pc:chgData name="Jeff Jackson" userId="510c00cb-ffc5-486c-89de-988638347f74" providerId="ADAL" clId="{68D584C7-7D8A-4064-BBF4-927CDDB31C78}" dt="2025-08-28T21:45:45.881" v="78" actId="47"/>
        <pc:sldMkLst>
          <pc:docMk/>
          <pc:sldMk cId="0" sldId="298"/>
        </pc:sldMkLst>
      </pc:sldChg>
      <pc:sldChg chg="del">
        <pc:chgData name="Jeff Jackson" userId="510c00cb-ffc5-486c-89de-988638347f74" providerId="ADAL" clId="{68D584C7-7D8A-4064-BBF4-927CDDB31C78}" dt="2025-08-30T21:47:24.542" v="79" actId="47"/>
        <pc:sldMkLst>
          <pc:docMk/>
          <pc:sldMk cId="543338314" sldId="299"/>
        </pc:sldMkLst>
      </pc:sldChg>
      <pc:sldChg chg="del">
        <pc:chgData name="Jeff Jackson" userId="510c00cb-ffc5-486c-89de-988638347f74" providerId="ADAL" clId="{68D584C7-7D8A-4064-BBF4-927CDDB31C78}" dt="2025-08-30T21:47:47.257" v="80" actId="47"/>
        <pc:sldMkLst>
          <pc:docMk/>
          <pc:sldMk cId="0" sldId="300"/>
        </pc:sldMkLst>
      </pc:sldChg>
      <pc:sldChg chg="modSp mod">
        <pc:chgData name="Jeff Jackson" userId="510c00cb-ffc5-486c-89de-988638347f74" providerId="ADAL" clId="{68D584C7-7D8A-4064-BBF4-927CDDB31C78}" dt="2025-08-23T17:36:37.531" v="71" actId="20577"/>
        <pc:sldMkLst>
          <pc:docMk/>
          <pc:sldMk cId="1666402541" sldId="302"/>
        </pc:sldMkLst>
        <pc:spChg chg="mod">
          <ac:chgData name="Jeff Jackson" userId="510c00cb-ffc5-486c-89de-988638347f74" providerId="ADAL" clId="{68D584C7-7D8A-4064-BBF4-927CDDB31C78}" dt="2025-08-23T17:36:37.531" v="71" actId="20577"/>
          <ac:spMkLst>
            <pc:docMk/>
            <pc:sldMk cId="1666402541" sldId="302"/>
            <ac:spMk id="9" creationId="{04E2C5F1-EF31-424B-BDE9-FF7BBF38EA6A}"/>
          </ac:spMkLst>
        </pc:spChg>
      </pc:sldChg>
      <pc:sldChg chg="add del">
        <pc:chgData name="Jeff Jackson" userId="510c00cb-ffc5-486c-89de-988638347f74" providerId="ADAL" clId="{68D584C7-7D8A-4064-BBF4-927CDDB31C78}" dt="2025-08-28T19:49:26.179" v="75" actId="47"/>
        <pc:sldMkLst>
          <pc:docMk/>
          <pc:sldMk cId="2130437291" sldId="303"/>
        </pc:sldMkLst>
      </pc:sldChg>
      <pc:sldChg chg="add del">
        <pc:chgData name="Jeff Jackson" userId="510c00cb-ffc5-486c-89de-988638347f74" providerId="ADAL" clId="{68D584C7-7D8A-4064-BBF4-927CDDB31C78}" dt="2025-08-28T19:49:26.179" v="75" actId="47"/>
        <pc:sldMkLst>
          <pc:docMk/>
          <pc:sldMk cId="2011020780" sldId="304"/>
        </pc:sldMkLst>
      </pc:sldChg>
      <pc:sldChg chg="del">
        <pc:chgData name="Jeff Jackson" userId="510c00cb-ffc5-486c-89de-988638347f74" providerId="ADAL" clId="{68D584C7-7D8A-4064-BBF4-927CDDB31C78}" dt="2025-08-28T21:45:45.881" v="78" actId="47"/>
        <pc:sldMkLst>
          <pc:docMk/>
          <pc:sldMk cId="2939830669" sldId="305"/>
        </pc:sldMkLst>
      </pc:sldChg>
      <pc:sldChg chg="del">
        <pc:chgData name="Jeff Jackson" userId="510c00cb-ffc5-486c-89de-988638347f74" providerId="ADAL" clId="{68D584C7-7D8A-4064-BBF4-927CDDB31C78}" dt="2025-08-28T21:45:45.881" v="78" actId="47"/>
        <pc:sldMkLst>
          <pc:docMk/>
          <pc:sldMk cId="2242099901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5F961C5-D932-42D1-97AA-E06E020FE0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D8588E3-4455-4761-8613-62C063A5827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AD6E3EF7-684F-42E9-BEC0-1E5137490A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C617F78-BBE1-4B3C-8677-08BB3D6F108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2A38954-E6A9-4328-8426-9E9D51CBFCD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0591F54-6B76-4EF1-B497-5F1BC39A5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8C309AD-1449-46EE-80CC-94E39BF1DB4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4A6E2E3-8EC7-44B2-AB23-E2642D49C8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7E501AA4-A7A5-4DB3-AF32-C2276F22A548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BA6C927-6B57-4C50-8622-FAEAA1154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65245AEC-9936-4840-BF69-650DAD5DF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FC22E02F-DA48-43CB-8D3D-19F3965B0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D2C966B7-A49A-4572-83B4-9A662F3A821B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6EDBC91-FC79-4C53-9ACC-D31C8DCBFC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F850F8E-2FB7-4C02-919E-0EA2EAC37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BC1DEE7-0798-4964-8E83-03E2AB402A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2BBE6A93-5991-448C-999A-A15AAC05EEFE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E0DF933-45FD-4D5A-AE97-97AAF3BEB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73CE5C9-5201-4A93-858F-8EB83E3C0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9BE7243-2684-4FFB-A50F-1B3954CFF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357A86BB-4BD4-4A40-BD23-0FA0372A9467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0EB7CF2-8E9A-4433-8D8C-6B6E2125D2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F71F294-A604-405E-9869-BABB0B3FD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95E045A-5EF4-41B7-A1A9-C874415D7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3FAE5DBA-AB66-4941-93CA-460C87B7E29D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AEA64DD-59B8-4A5A-9948-98CC7EBC4F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52A4DB9-3CF3-4609-BADE-ED4A12389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672F566-8529-4E6F-AC39-07670499AB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B681445C-BB16-4464-914B-AE074730122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C39C352E-10C9-4EDA-AF84-122BBF807A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B51831D-E443-4B0A-8F00-FC674C6DF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66864822-3B76-4FC7-813D-702D60ADCA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9E384C43-8E6C-4381-9A15-30723F79E3BF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FD74239-E2F3-4C6B-878D-93609A0B9C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DF43C8B-CF28-4242-8E1F-2B7439ECC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D7562143-26C2-40D0-86BE-CD9803CDC3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A18C97BD-81D0-4FA9-9F10-337790DAE3E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3B31BEC-6A96-4D68-84DF-0B49384B8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A8BF13DF-28FC-46A4-9B8D-0BF6BC9B2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672B036-5DF0-4B08-A2C2-315CEBECB8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B354EFCE-6696-4F40-BFBF-A094024DB43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7A81167-D7AF-47D9-A469-C430B6F80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DE67AE3-6681-43E9-9D70-A27B21543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79A75E5-2C48-45A7-95AD-EA8E3914FC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2210076D-41A3-4427-824E-93CB33D4CFBC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B8C644E-3DA8-4211-B92D-0084DF9D0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E56D1E16-5CEA-4CBA-A0D1-A29249391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CFE6611F-5B64-48FC-868D-6F8A0FD833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A7E64ABA-1B4A-46D2-93DD-35749BBC35AB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F86F61B-2B5F-4603-9503-9758CB1141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B74D1A4-F5B3-43FB-9498-79B0C156A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B573A8F-203A-400B-B570-6948596549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A1C1D536-CD4A-4207-AAB1-57DB399243F3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F7A2F8CD-F535-4354-A3BA-DF121B713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5CBC921D-5EF7-433B-B09D-FE982AC9B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A20FECB-F152-43E2-8870-BB9FC5191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8F92F922-09AB-4754-B7FF-CF13E51A0A13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93D610A-AA50-469B-968E-C274522AF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EC8B738F-32B5-44FE-A2B0-6B825D05B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26E2E9D6-F2CE-49A3-AD2E-D0E3E845D4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5BBD1AF3-C38D-41B4-B582-EE51C8D4ABE3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0E25BFFA-18F7-4983-894E-F493656B11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CA1F23DB-3A8A-440D-88FD-D26CD9A54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1458792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27349F7-388F-4409-824E-A16484AC1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A7820D2A-7B88-4C4F-AB15-1F99A259C16D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F75AA10-4CE5-4A2C-8237-1B150A200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B5413B94-5FA3-4294-B8B4-089B9B87C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9306ADC-9DC4-4957-A659-3D1C30F60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E9377126-7EF6-4E0F-96E2-5FA5BADD6844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2579612-16BA-4576-AC92-F0AD087C7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EB53971-1BE1-4FD1-BA70-AD438A0C2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220519F-B7E5-44B2-BF00-0CF9EA06F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D4C5C03C-C84F-4533-9E43-A84B303CF5F7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684574D-52DA-4D3A-82A0-4CC188E8E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05FD2860-6A55-4D47-B8D4-C97B79775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AF10931-FE35-4AE8-868D-F785D980C0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62A095FD-8E32-4A79-9BC0-59446A899883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67366B9-01D1-42E7-960C-AB6B777D0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D05530F-B497-40CB-B235-F370491A8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44B2377B-0263-4C29-8663-E4822ACA22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C2B55B08-C20A-4AF6-8F65-B79C05E92022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D2BFB5B5-D316-4886-AF4D-55CE8CFDC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FBE1C1C8-536B-4BD5-BA3E-DB071AE90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6C76C64-2C01-4A6D-A627-73DA8A1DAC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BD474513-F516-44C9-AB9D-43B1E2338CA0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7968564-98F6-4CA7-AC9A-990BD809D8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ABE4A61-819C-4957-A4D7-347A77AE1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BD2792AE-2DCE-4372-A067-829DB9B57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4128F607-B9E9-4339-95C9-2FC770FA62C3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CCF4F321-3936-465F-80D8-4A011BBD8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9B58C368-C004-4389-B10F-F0CCB47C6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2C6C594-ADD9-4E4A-BF99-06D3DE6D5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8FC6966E-585D-486C-9B28-7753F301586E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B6720CF-B0AA-452E-A673-C07CCEF72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89A312C-ADE1-4D4D-A0C4-69DED6C18F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EA10894-C4C6-4D28-B8E8-6268C07CE0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9D2E0FB8-3614-420C-980C-C1C7F3CD09E9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C72AFD9-15BC-4DCB-90CD-3B861F37D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9451AF78-25B9-4216-8732-AC42CDA26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1910641-EAAD-47BC-9EA3-2AC8D2DE8E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C8746681-23A7-4235-A988-B0580284BB72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F8BAF34-C218-400B-BE2B-A61FCE367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DDAC3407-A0B8-4083-A455-D396292B1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528B309-B060-4664-A8CE-31D73AF6D3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028F3011-EF07-4D6E-87BC-8C95626329D2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188FCD9-A2D3-41C1-816D-853524928F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3F6FAD6-8C8F-4ACA-A056-FB5B90331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F7B2A28D-3D2C-412F-A11E-63B356796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796FACAD-C157-4079-ADCC-7323B2C5041C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40DDC8B-93FA-4207-9699-A6847C2930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EAD20DE-00A1-4594-BE16-C6DD660C0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F834F45B-16BF-4CAC-AF30-7693E65CF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C422A9A4-4FF6-4D5C-A2A6-1B0970C12451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05D02BC-FEE7-4156-988D-27C615C590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498513F-0E10-4683-ABE7-1569BD43D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572B09F-22D8-4736-9D4D-C5FF5AC28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71A86E66-F9AC-4141-9360-BE3307E69DE3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E17F4C4-783E-4564-BF83-8D7D2AB34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37ED874-BA76-4E74-B81D-0B2AC1DCA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3E7CBCE-F0A8-428D-9DD1-BCA7C2E91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8BD4977F-4332-4C38-B018-6BB8DDB81C3D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8335BCF-42CF-462F-9CD2-268B769DA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6A0C2E4D-F8F9-43E8-B5BE-079E3E830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728EEF33-1BBF-4E8B-BA26-B2D85CB03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588" y="6543675"/>
            <a:ext cx="178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algn="r">
              <a:defRPr/>
            </a:pPr>
            <a:r>
              <a:rPr lang="en-US" altLang="en-US" sz="1400">
                <a:latin typeface="Courier" pitchFamily="49" charset="0"/>
              </a:rPr>
              <a:t>ISBN </a:t>
            </a:r>
            <a:r>
              <a:rPr lang="en-US" altLang="en-US" sz="1400"/>
              <a:t>0-321-49362-1</a:t>
            </a:r>
          </a:p>
        </p:txBody>
      </p:sp>
      <p:pic>
        <p:nvPicPr>
          <p:cNvPr id="5" name="Picture 8" descr="pl9cover.jpg">
            <a:extLst>
              <a:ext uri="{FF2B5EF4-FFF2-40B4-BE49-F238E27FC236}">
                <a16:creationId xmlns:a16="http://schemas.microsoft.com/office/drawing/2014/main" id="{C493C128-7F86-40A3-9FA5-7DEEC4B778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825" y="495300"/>
            <a:ext cx="495617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78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C4BC94-E2A8-4367-8B2D-30A0DE1F55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2DDC72-7B99-486A-9C83-7A6DBF9261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DF196656-A484-4E62-A375-AEDD4C805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81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680DD8-B9DF-454E-B2FD-F45C806A11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659712-EB0B-442E-B665-1D44F2E734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BDE604BB-F1C9-4FCC-8DC8-96B4923AF2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28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F6EB2-37C3-4BA8-8072-E8AF7926E05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3A341B-B94C-4CC5-8030-64766EE6DBA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96B05998-FC08-48CF-87A3-713AEA3E51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980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2C7A41-CC34-4A69-900E-E0C7E2EB457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F79D26D-9105-4E4E-AE0D-036724BD07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699B0DDD-5F6C-4EDA-A2AF-820B4D106D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909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5793354-E0F8-4739-ACCC-F59864E018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4219AE0-2FB8-4F4D-A1D6-5FCD45BAC5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E1D812DD-CB72-4A40-8AE3-32F6AE6A90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56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F9406FB-36E1-472F-9584-038E609454D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3F307E6-2094-49ED-8104-02AF36F4D5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75B6FE77-F10F-4EA3-AA96-13229572B1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95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1716B-6D7F-47C5-9967-133C1A5509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A148B7-D373-49D6-8628-BBF504755B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8090BA19-6AD1-479C-837B-6129D6ACF4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8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23A0F-9AE3-4FF2-9A3D-D222C2A273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FFAF0-8950-42B8-BEE9-EDF26266AD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1E5FC34C-4A60-41AC-9533-28107DAEC2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23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97D7E2-5B08-480C-85E5-87E0F33650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D091D3-3570-40BB-A46F-CF70E0A6D9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A1552769-3BEB-4002-A98F-3D992E73AB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26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E15123-8AF1-412F-A436-9822ED44B7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B2021B-D8F6-4F46-96C0-E088DE626A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F008BC30-1CDC-4323-9339-D501BE8C7A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15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F7F759-B413-47ED-9B25-C6BDCC2D6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F9D212-4E46-4F0F-8F68-9D25AFFD4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0D1719F7-AE33-40F7-913E-663B95FD07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4BE3A36-739B-499B-BB57-C814BE285E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1-</a:t>
            </a:r>
            <a:fld id="{19AD8AC0-8DD2-4C45-B36A-2BF62B9F04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DE9AD6C6-EE9D-4140-9B2E-C25536209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F56C89C2-B145-4424-9109-3746A9C3A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pectrum.ieee.org/top-programming-languages-202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99BF91C-2C66-4FE5-BD35-00A77D17CEF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15AAA26D-2E17-433E-B3CD-4F8C76A929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Preliminaries</a:t>
            </a:r>
          </a:p>
        </p:txBody>
      </p:sp>
      <p:sp>
        <p:nvSpPr>
          <p:cNvPr id="3076" name="Text Box 5">
            <a:extLst>
              <a:ext uri="{FF2B5EF4-FFF2-40B4-BE49-F238E27FC236}">
                <a16:creationId xmlns:a16="http://schemas.microsoft.com/office/drawing/2014/main" id="{B081ED74-FF43-4EAF-9CBA-34E39507C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6400800"/>
            <a:ext cx="1828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077" name="Text Box 6">
            <a:extLst>
              <a:ext uri="{FF2B5EF4-FFF2-40B4-BE49-F238E27FC236}">
                <a16:creationId xmlns:a16="http://schemas.microsoft.com/office/drawing/2014/main" id="{C389B125-19D0-4945-BD03-B982141F4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553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7BA5FBF-D3B9-42C1-83F8-357E68C4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Just so you know...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66D55B4D-CF40-40E1-87F1-9D794A478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Original (copyrighted) slides have often been modified somewhat by Dr Jackson</a:t>
            </a:r>
          </a:p>
          <a:p>
            <a:pPr lvl="1"/>
            <a:r>
              <a:rPr lang="en-US" altLang="en-US"/>
              <a:t>Technically, this is a violation of copyright, but I'm pretty sure no one will mind.  </a:t>
            </a:r>
          </a:p>
          <a:p>
            <a:pPr lvl="1"/>
            <a:r>
              <a:rPr lang="en-US" altLang="en-US"/>
              <a:t>Still, this is being performed by a professional driver on a closed course; don't try this at home.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03362D5C-B49D-4318-B791-940036592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0CF7D91A-2610-4CE3-A65D-F83990048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7B9EE7E-A3AD-41CD-B998-97C0BD831E03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A7B4C96B-0EC2-4862-BA63-148D7E6BB2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24E8F023-9A74-48AA-B42B-8A7503B28A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6E16C98-D23C-4AFC-B59E-E8162113BF4A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6F41B9CF-8DA3-426C-BF1A-2203DF448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 Topics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82C03B1C-1A74-42F8-9AC7-ABF556D74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en-US"/>
              <a:t>Reasons for Studying Concepts of Programming Languages</a:t>
            </a:r>
          </a:p>
          <a:p>
            <a:pPr marL="533400" indent="-533400" eaLnBrk="1" hangingPunct="1"/>
            <a:r>
              <a:rPr lang="en-US" altLang="en-US"/>
              <a:t>Programming Domains</a:t>
            </a:r>
          </a:p>
          <a:p>
            <a:pPr marL="533400" indent="-533400" eaLnBrk="1" hangingPunct="1"/>
            <a:r>
              <a:rPr lang="en-US" altLang="en-US"/>
              <a:t>Language Evaluation Criteria</a:t>
            </a:r>
          </a:p>
          <a:p>
            <a:pPr marL="533400" indent="-533400" eaLnBrk="1" hangingPunct="1"/>
            <a:r>
              <a:rPr lang="en-US" altLang="en-US"/>
              <a:t>Influences on Language Design</a:t>
            </a:r>
          </a:p>
          <a:p>
            <a:pPr marL="533400" indent="-533400" eaLnBrk="1" hangingPunct="1"/>
            <a:r>
              <a:rPr lang="en-US" altLang="en-US"/>
              <a:t>Language Categories</a:t>
            </a:r>
          </a:p>
          <a:p>
            <a:pPr marL="533400" indent="-533400" eaLnBrk="1" hangingPunct="1"/>
            <a:r>
              <a:rPr lang="en-US" altLang="en-US"/>
              <a:t>Language Design Trade-Offs</a:t>
            </a:r>
          </a:p>
          <a:p>
            <a:pPr marL="533400" indent="-533400" eaLnBrk="1" hangingPunct="1"/>
            <a:r>
              <a:rPr lang="en-US" altLang="en-US"/>
              <a:t>Implementation Methods</a:t>
            </a:r>
          </a:p>
          <a:p>
            <a:pPr marL="533400" indent="-533400" eaLnBrk="1" hangingPunct="1"/>
            <a:r>
              <a:rPr lang="en-US" altLang="en-US"/>
              <a:t>Programming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3675A6C7-EE45-4731-8152-D7E4EC3C20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7C2362CA-7B8B-4191-83A7-96CB9F009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FD3D547-18E5-4A2E-89F0-6CF429578E4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5C010E83-F7DA-48C9-ADAB-2C284A1C3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206500"/>
          </a:xfrm>
        </p:spPr>
        <p:txBody>
          <a:bodyPr/>
          <a:lstStyle/>
          <a:p>
            <a:pPr eaLnBrk="1" hangingPunct="1"/>
            <a:r>
              <a:rPr lang="en-US" altLang="en-US"/>
              <a:t>Reasons for Studying Concepts of Programming Languages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A8666ACA-2881-4938-A1EC-46387B0FE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dirty="0"/>
              <a:t>Increased ability to express ideas</a:t>
            </a:r>
          </a:p>
          <a:p>
            <a:pPr eaLnBrk="1" hangingPunct="1"/>
            <a:r>
              <a:rPr lang="en-US" altLang="en-US" dirty="0"/>
              <a:t>Improved background for choosing appropriate languages</a:t>
            </a:r>
          </a:p>
          <a:p>
            <a:pPr eaLnBrk="1" hangingPunct="1"/>
            <a:r>
              <a:rPr lang="en-US" altLang="en-US" dirty="0"/>
              <a:t>Increased ability to learn new languages</a:t>
            </a:r>
          </a:p>
          <a:p>
            <a:pPr eaLnBrk="1" hangingPunct="1"/>
            <a:r>
              <a:rPr lang="en-US" altLang="en-US" dirty="0"/>
              <a:t>Better use of languages that are already known (e.g., using language as it was designed to be used)</a:t>
            </a:r>
          </a:p>
          <a:p>
            <a:pPr eaLnBrk="1" hangingPunct="1"/>
            <a:r>
              <a:rPr lang="en-US" altLang="en-US" dirty="0"/>
              <a:t>Overall advancement of computing: the "most popular" languages are not always best and can actually set our field back!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F3C9-8021-4378-8417-9C8DD7F3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Speaking of most popular languages...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1918-FC95-4DD2-8B73-B0FD2731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72000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IEEE Spectrum</a:t>
            </a:r>
            <a:r>
              <a:rPr lang="en-US" dirty="0"/>
              <a:t>. Top languages by jobs: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91927-9169-4D5B-9B28-A520FB8150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7CB6A-826B-4109-BDC9-1F482DA73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DF196656-A484-4E62-A375-AEDD4C805B7B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AC8990-58AB-4969-927F-87FFB5C6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29" y="2042114"/>
            <a:ext cx="7053580" cy="44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8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9B54-53AC-4562-A91C-399DD1ED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Speaking of most popular languages...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74F7A-63CB-4C4C-91FC-FE7A20902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2009 Addison-Wesley.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46364-0CBC-40B8-B1E9-B661C6C704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DF196656-A484-4E62-A375-AEDD4C805B7B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2C5F1-EF31-424B-BDE9-FF7BBF38EA6A}"/>
              </a:ext>
            </a:extLst>
          </p:cNvPr>
          <p:cNvSpPr txBox="1"/>
          <p:nvPr/>
        </p:nvSpPr>
        <p:spPr>
          <a:xfrm>
            <a:off x="685800" y="1817040"/>
            <a:ext cx="8111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Trending languages (largely measured by </a:t>
            </a:r>
            <a:r>
              <a:rPr lang="en-US" dirty="0" err="1"/>
              <a:t>StackOverflow</a:t>
            </a:r>
            <a:r>
              <a:rPr lang="en-US" dirty="0"/>
              <a:t> posts):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5C691-570F-4EA8-B94E-5AA8D3CB1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1" y="2599891"/>
            <a:ext cx="797353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0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17B69DB-E2C0-4014-9BEB-BFE5BB9CAC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7171" name="Slide Number Placeholder 4">
            <a:extLst>
              <a:ext uri="{FF2B5EF4-FFF2-40B4-BE49-F238E27FC236}">
                <a16:creationId xmlns:a16="http://schemas.microsoft.com/office/drawing/2014/main" id="{0C5C2944-434B-4CE5-98FB-5A4D1F991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2F84F18-E4B2-4D9F-91C2-BA240FCEEA85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7B2DDE7-05BB-4D8B-A9FB-2A651EC58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Some Programming Domains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47F3E455-9E90-4840-8550-266F6715B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5010" y="1295400"/>
            <a:ext cx="77724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Scientific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Large numbers of floating point computations; use of arrays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b="1" dirty="0"/>
              <a:t>Fortran</a:t>
            </a:r>
            <a:r>
              <a:rPr lang="en-US" altLang="en-US" sz="1800" dirty="0"/>
              <a:t> was once popular, </a:t>
            </a:r>
            <a:r>
              <a:rPr lang="en-US" altLang="en-US" sz="1800" b="1" dirty="0"/>
              <a:t>Python</a:t>
            </a:r>
            <a:r>
              <a:rPr lang="en-US" altLang="en-US" sz="1800" dirty="0"/>
              <a:t> is dominant now.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Business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Produce reports, use decimal numbers and characters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b="1" dirty="0"/>
              <a:t>COBOL</a:t>
            </a:r>
            <a:r>
              <a:rPr lang="en-US" altLang="en-US" sz="1800" dirty="0"/>
              <a:t> was an early popular language for these apps, still in use!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Artificial intelligence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Early AI was largely symbolic processing, </a:t>
            </a:r>
            <a:r>
              <a:rPr lang="en-US" altLang="en-US" sz="1800" b="1" dirty="0"/>
              <a:t>LISP</a:t>
            </a:r>
            <a:r>
              <a:rPr lang="en-US" altLang="en-US" sz="1800" dirty="0"/>
              <a:t> was the original major symbolic language. </a:t>
            </a:r>
            <a:r>
              <a:rPr lang="en-US" altLang="en-US" sz="1800" b="1" dirty="0"/>
              <a:t>Scheme</a:t>
            </a:r>
            <a:r>
              <a:rPr lang="en-US" altLang="en-US" sz="1800" dirty="0"/>
              <a:t> is very LISP-like.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b="1" dirty="0"/>
              <a:t>Python</a:t>
            </a:r>
            <a:r>
              <a:rPr lang="en-US" altLang="en-US" sz="1800" dirty="0"/>
              <a:t> popular for machine learning.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Systems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Need efficiency because of continuous use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b="1" dirty="0"/>
              <a:t>C</a:t>
            </a:r>
            <a:r>
              <a:rPr lang="en-US" altLang="en-US" sz="1800" dirty="0"/>
              <a:t> remains popular for systems </a:t>
            </a:r>
            <a:r>
              <a:rPr lang="en-US" altLang="en-US" sz="1800" dirty="0" err="1"/>
              <a:t>prog'g</a:t>
            </a:r>
            <a:r>
              <a:rPr lang="en-US" altLang="en-US" sz="1800" dirty="0"/>
              <a:t> and embedded apps; </a:t>
            </a:r>
            <a:r>
              <a:rPr lang="en-US" altLang="en-US" sz="1800" b="1" dirty="0"/>
              <a:t>Rust</a:t>
            </a:r>
            <a:r>
              <a:rPr lang="en-US" altLang="en-US" sz="1800" dirty="0"/>
              <a:t> is a newer alternative.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17B69DB-E2C0-4014-9BEB-BFE5BB9CAC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7171" name="Slide Number Placeholder 4">
            <a:extLst>
              <a:ext uri="{FF2B5EF4-FFF2-40B4-BE49-F238E27FC236}">
                <a16:creationId xmlns:a16="http://schemas.microsoft.com/office/drawing/2014/main" id="{0C5C2944-434B-4CE5-98FB-5A4D1F991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2F84F18-E4B2-4D9F-91C2-BA240FCEEA85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7B2DDE7-05BB-4D8B-A9FB-2A651EC58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Some Programming Domains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47F3E455-9E90-4840-8550-266F6715B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5010" y="1295400"/>
            <a:ext cx="7772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Web development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Frontend (browser UI) language: </a:t>
            </a:r>
            <a:r>
              <a:rPr lang="en-US" altLang="en-US" sz="1800" b="1" dirty="0"/>
              <a:t>JavaScript</a:t>
            </a:r>
            <a:r>
              <a:rPr lang="en-US" altLang="en-US" sz="1800" dirty="0"/>
              <a:t>/</a:t>
            </a:r>
            <a:r>
              <a:rPr lang="en-US" altLang="en-US" sz="1800" b="1" dirty="0"/>
              <a:t>TypeScript</a:t>
            </a:r>
            <a:endParaRPr lang="en-US" alt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Backend (server) languages: many, including </a:t>
            </a:r>
            <a:r>
              <a:rPr lang="en-US" altLang="en-US" sz="1800" b="1" dirty="0"/>
              <a:t>Java</a:t>
            </a:r>
            <a:r>
              <a:rPr lang="en-US" altLang="en-US" sz="1800" dirty="0"/>
              <a:t>, </a:t>
            </a:r>
            <a:r>
              <a:rPr lang="en-US" altLang="en-US" sz="1800" b="1" dirty="0"/>
              <a:t>Python</a:t>
            </a:r>
            <a:r>
              <a:rPr lang="en-US" altLang="en-US" sz="1800" dirty="0"/>
              <a:t>, </a:t>
            </a:r>
            <a:r>
              <a:rPr lang="en-US" altLang="en-US" sz="1800" b="1" dirty="0"/>
              <a:t>C#</a:t>
            </a:r>
            <a:r>
              <a:rPr lang="en-US" altLang="en-US" sz="1800" dirty="0"/>
              <a:t>, </a:t>
            </a:r>
            <a:r>
              <a:rPr lang="en-US" altLang="en-US" sz="1800" b="1" dirty="0"/>
              <a:t>Ruby, PHP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200" dirty="0"/>
              <a:t>Mobile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Android: originally </a:t>
            </a:r>
            <a:r>
              <a:rPr lang="en-US" altLang="en-US" sz="1800" b="1" dirty="0"/>
              <a:t>Java</a:t>
            </a:r>
            <a:r>
              <a:rPr lang="en-US" altLang="en-US" sz="1800" dirty="0"/>
              <a:t>, newer </a:t>
            </a:r>
            <a:r>
              <a:rPr lang="en-US" altLang="en-US" sz="1800" b="1" dirty="0"/>
              <a:t>Kotlin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IOS: originally </a:t>
            </a:r>
            <a:r>
              <a:rPr lang="en-US" altLang="en-US" sz="1800" b="1" dirty="0"/>
              <a:t>Objective C</a:t>
            </a:r>
            <a:r>
              <a:rPr lang="en-US" altLang="en-US" sz="1800" dirty="0"/>
              <a:t>, newer </a:t>
            </a:r>
            <a:r>
              <a:rPr lang="en-US" altLang="en-US" sz="1800" b="1" dirty="0"/>
              <a:t>Swift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Cross-platform: </a:t>
            </a:r>
            <a:r>
              <a:rPr lang="en-US" altLang="en-US" sz="1800" b="1" dirty="0"/>
              <a:t>JavaScript</a:t>
            </a:r>
            <a:r>
              <a:rPr lang="en-US" altLang="en-US" sz="1800" dirty="0"/>
              <a:t> (React Native), </a:t>
            </a:r>
            <a:r>
              <a:rPr lang="en-US" altLang="en-US" sz="1800" b="1" dirty="0"/>
              <a:t>Dart</a:t>
            </a:r>
            <a:r>
              <a:rPr lang="en-US" altLang="en-US" sz="1800" dirty="0"/>
              <a:t> (Flutter) </a:t>
            </a:r>
          </a:p>
        </p:txBody>
      </p:sp>
    </p:spTree>
    <p:extLst>
      <p:ext uri="{BB962C8B-B14F-4D97-AF65-F5344CB8AC3E}">
        <p14:creationId xmlns:p14="http://schemas.microsoft.com/office/powerpoint/2010/main" val="320134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213F6F97-3BC5-47EA-8C42-05D25A6D12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AA6F3A4B-13E6-4C23-AFF9-0393EC08C3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3502D76-7E08-4E04-8233-05D88909F3F2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5B009269-E17C-4373-8A29-E7A0B7779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Language Evaluation Criteria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7A60C7B2-2DA0-4529-9DAD-BB834A730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Readability</a:t>
            </a:r>
            <a:r>
              <a:rPr lang="en-US" altLang="en-US" dirty="0"/>
              <a:t>: the ease with which programs can be read and understood</a:t>
            </a:r>
          </a:p>
          <a:p>
            <a:pPr eaLnBrk="1" hangingPunct="1"/>
            <a:r>
              <a:rPr lang="en-US" altLang="en-US" b="1" dirty="0"/>
              <a:t>Writability</a:t>
            </a:r>
            <a:r>
              <a:rPr lang="en-US" altLang="en-US" dirty="0"/>
              <a:t>: the ease with which a language can be used to create programs</a:t>
            </a:r>
          </a:p>
          <a:p>
            <a:pPr eaLnBrk="1" hangingPunct="1"/>
            <a:r>
              <a:rPr lang="en-US" altLang="en-US" b="1" dirty="0"/>
              <a:t>Reliability</a:t>
            </a:r>
            <a:r>
              <a:rPr lang="en-US" altLang="en-US" dirty="0"/>
              <a:t>: how easy/hard is it to introduce/detect/handle bugs?</a:t>
            </a:r>
          </a:p>
          <a:p>
            <a:pPr eaLnBrk="1" hangingPunct="1"/>
            <a:r>
              <a:rPr lang="en-US" altLang="en-US" b="1" dirty="0"/>
              <a:t>Cost</a:t>
            </a:r>
            <a:r>
              <a:rPr lang="en-US" altLang="en-US" dirty="0"/>
              <a:t>: how much does it cost (total) to develop and maintain a program using language A vs. language B?  (Includes training costs, software tool costs,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1">
            <a:extLst>
              <a:ext uri="{FF2B5EF4-FFF2-40B4-BE49-F238E27FC236}">
                <a16:creationId xmlns:a16="http://schemas.microsoft.com/office/drawing/2014/main" id="{D71C8EB6-F5F8-4129-8F94-D8D143D1FF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2007 Addison-Wesley. All rights reserved.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444C97CD-CA11-4592-AA24-44E07AD496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1–</a:t>
            </a:r>
            <a:fld id="{F642FFD0-6617-4CCB-B4BF-B2DFDB9F7CE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CD79A-1573-424D-A32F-75ACC993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8" y="1895260"/>
            <a:ext cx="7859977" cy="343874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50CE2AF5-E593-413A-A090-8C2DE129E5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428905E-4B29-4E7F-9040-6167BAF30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48FA4C3-90AA-4E1D-9A92-E121E51EED83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C7918A1F-1809-47B0-B883-182BA8926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Readability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D5F916B3-22D7-4778-86FE-241E53D10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876800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/>
              <a:t>Overall simplicity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/>
              <a:t>Minimal feature </a:t>
            </a:r>
            <a:r>
              <a:rPr lang="en-US" altLang="en-US" sz="2000" b="1"/>
              <a:t>multiplicity</a:t>
            </a:r>
            <a:r>
              <a:rPr lang="en-US" altLang="en-US" sz="2000"/>
              <a:t> (multiple ways to do task)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/>
              <a:t>Negative Java example: four ways to increment a variable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/>
              <a:t>Minimal operator </a:t>
            </a:r>
            <a:r>
              <a:rPr lang="en-US" altLang="en-US" sz="2000" b="1"/>
              <a:t>overloading</a:t>
            </a:r>
            <a:r>
              <a:rPr lang="en-US" altLang="en-US" sz="2000"/>
              <a:t> (+ is overloaded in Java)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/>
              <a:t>System.out.println("Sum is " + 2 + 3);</a:t>
            </a:r>
          </a:p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 b="1"/>
              <a:t>Orthogonality 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/>
              <a:t>A relatively small set of primitive constructs can be combined in every possible way to build the language's control and data structures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/>
              <a:t>Example: In functional languages, every operator is a function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10246" name="TextBox 5">
            <a:extLst>
              <a:ext uri="{FF2B5EF4-FFF2-40B4-BE49-F238E27FC236}">
                <a16:creationId xmlns:a16="http://schemas.microsoft.com/office/drawing/2014/main" id="{1E243769-089D-49C6-9B05-1CB4F438E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19600"/>
            <a:ext cx="5791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(if (eq? b '())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(list (list a b))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(cons (list a b)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(allappends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(append a (list (car b)))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(cdr b))))</a:t>
            </a:r>
            <a:endParaRPr lang="en-US" altLang="en-US" sz="16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04724712-F6AA-43AB-ACC2-026CBA6845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1267" name="Slide Number Placeholder 4">
            <a:extLst>
              <a:ext uri="{FF2B5EF4-FFF2-40B4-BE49-F238E27FC236}">
                <a16:creationId xmlns:a16="http://schemas.microsoft.com/office/drawing/2014/main" id="{F765E24A-A9D8-4D88-8C68-4077574471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D2A8236-FAAE-4EA8-8ACD-D1FD57ED783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F2F1E5A5-A0EE-448D-ADDA-CF29D7B86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Readability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C273B51F-4D39-47DA-8478-5D08485B8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876800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 dirty="0"/>
              <a:t>Overall simplicity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Minimal feature </a:t>
            </a:r>
            <a:r>
              <a:rPr lang="en-US" altLang="en-US" sz="2000" b="1" dirty="0"/>
              <a:t>multiplicity</a:t>
            </a:r>
            <a:r>
              <a:rPr lang="en-US" altLang="en-US" sz="2000" dirty="0"/>
              <a:t> (multiple ways to do task)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/>
              <a:t>Negative Java example: four ways to increment a variable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Minimal operator </a:t>
            </a:r>
            <a:r>
              <a:rPr lang="en-US" altLang="en-US" sz="2000" b="1" dirty="0"/>
              <a:t>overloading</a:t>
            </a:r>
            <a:r>
              <a:rPr lang="en-US" altLang="en-US" sz="2000" dirty="0"/>
              <a:t> (+ is overloaded in Java)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 err="1"/>
              <a:t>System.out.println</a:t>
            </a:r>
            <a:r>
              <a:rPr lang="en-US" altLang="en-US" sz="1700" dirty="0"/>
              <a:t>("Sum is " + 2 + 3);</a:t>
            </a:r>
          </a:p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 b="1" dirty="0"/>
              <a:t>Orthogonality 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A relatively small set of primitive constructs can be combined in every possible way to build the language's control and data structures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Example: In </a:t>
            </a:r>
            <a:r>
              <a:rPr lang="en-US" altLang="en-US" sz="2000" i="1" dirty="0"/>
              <a:t>functional</a:t>
            </a:r>
            <a:r>
              <a:rPr lang="en-US" altLang="en-US" sz="2000" dirty="0"/>
              <a:t> languages such as Scheme, every operator is a function</a:t>
            </a:r>
            <a:br>
              <a:rPr lang="en-US" altLang="en-US" sz="2000" dirty="0"/>
            </a:br>
            <a:endParaRPr lang="en-US" altLang="en-US" sz="2000" dirty="0"/>
          </a:p>
        </p:txBody>
      </p:sp>
      <p:sp>
        <p:nvSpPr>
          <p:cNvPr id="11270" name="TextBox 5">
            <a:extLst>
              <a:ext uri="{FF2B5EF4-FFF2-40B4-BE49-F238E27FC236}">
                <a16:creationId xmlns:a16="http://schemas.microsoft.com/office/drawing/2014/main" id="{5B1BB91B-DCE9-4D88-9546-27B588550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19600"/>
            <a:ext cx="5791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(if (eq? b '())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(list (list a b))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(cons (list a b)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(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allappends</a:t>
            </a:r>
            <a:endParaRPr lang="en-US" alt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(append a (list (car b)))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(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cdr</a:t>
            </a: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b))))</a:t>
            </a:r>
            <a:endParaRPr lang="en-US" altLang="en-US" sz="1600" dirty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1" name="Oval 6">
            <a:extLst>
              <a:ext uri="{FF2B5EF4-FFF2-40B4-BE49-F238E27FC236}">
                <a16:creationId xmlns:a16="http://schemas.microsoft.com/office/drawing/2014/main" id="{3AC23EAE-2B6A-4F0F-B505-56D5C34F5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19600"/>
            <a:ext cx="3810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2" name="Oval 7">
            <a:extLst>
              <a:ext uri="{FF2B5EF4-FFF2-40B4-BE49-F238E27FC236}">
                <a16:creationId xmlns:a16="http://schemas.microsoft.com/office/drawing/2014/main" id="{3BC4309F-CEA1-466F-80F6-1A9E42EDB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19600"/>
            <a:ext cx="3810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3" name="Oval 8">
            <a:extLst>
              <a:ext uri="{FF2B5EF4-FFF2-40B4-BE49-F238E27FC236}">
                <a16:creationId xmlns:a16="http://schemas.microsoft.com/office/drawing/2014/main" id="{821AEA84-FDCC-4414-9ACC-1E1599BFA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6482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4" name="Oval 9">
            <a:extLst>
              <a:ext uri="{FF2B5EF4-FFF2-40B4-BE49-F238E27FC236}">
                <a16:creationId xmlns:a16="http://schemas.microsoft.com/office/drawing/2014/main" id="{D247C650-847B-41F5-9C6B-C510571F4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9530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5" name="Oval 10">
            <a:extLst>
              <a:ext uri="{FF2B5EF4-FFF2-40B4-BE49-F238E27FC236}">
                <a16:creationId xmlns:a16="http://schemas.microsoft.com/office/drawing/2014/main" id="{1F0D2853-9FDA-41F9-B1B4-A2E51C1F7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6482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6" name="Oval 11">
            <a:extLst>
              <a:ext uri="{FF2B5EF4-FFF2-40B4-BE49-F238E27FC236}">
                <a16:creationId xmlns:a16="http://schemas.microsoft.com/office/drawing/2014/main" id="{334EA6F0-F467-4C89-83D4-FCAB0BA44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8768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7" name="Oval 12">
            <a:extLst>
              <a:ext uri="{FF2B5EF4-FFF2-40B4-BE49-F238E27FC236}">
                <a16:creationId xmlns:a16="http://schemas.microsoft.com/office/drawing/2014/main" id="{54B88494-776C-40A3-B3E2-99AE7A535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4102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8" name="Oval 13">
            <a:extLst>
              <a:ext uri="{FF2B5EF4-FFF2-40B4-BE49-F238E27FC236}">
                <a16:creationId xmlns:a16="http://schemas.microsoft.com/office/drawing/2014/main" id="{2C085AF5-062E-40BF-814E-658B97C79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4102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79" name="Oval 14">
            <a:extLst>
              <a:ext uri="{FF2B5EF4-FFF2-40B4-BE49-F238E27FC236}">
                <a16:creationId xmlns:a16="http://schemas.microsoft.com/office/drawing/2014/main" id="{B30D1E42-20E6-46AD-B744-853B4C941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638800"/>
            <a:ext cx="5334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80" name="Oval 15">
            <a:extLst>
              <a:ext uri="{FF2B5EF4-FFF2-40B4-BE49-F238E27FC236}">
                <a16:creationId xmlns:a16="http://schemas.microsoft.com/office/drawing/2014/main" id="{25C9BFBC-62A3-480A-8EDA-2F1D78419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410200"/>
            <a:ext cx="8382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81" name="Oval 16">
            <a:extLst>
              <a:ext uri="{FF2B5EF4-FFF2-40B4-BE49-F238E27FC236}">
                <a16:creationId xmlns:a16="http://schemas.microsoft.com/office/drawing/2014/main" id="{B9837720-F022-4ED0-B1F8-03833D8A2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181600"/>
            <a:ext cx="1371600" cy="304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282" name="TextBox 17">
            <a:extLst>
              <a:ext uri="{FF2B5EF4-FFF2-40B4-BE49-F238E27FC236}">
                <a16:creationId xmlns:a16="http://schemas.microsoft.com/office/drawing/2014/main" id="{A3B3D79D-82E5-488B-9541-A44EE5E81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34000"/>
            <a:ext cx="1328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" panose="02020603050405020304" pitchFamily="18" charset="0"/>
              </a:rPr>
              <a:t>functions</a:t>
            </a:r>
          </a:p>
        </p:txBody>
      </p:sp>
      <p:cxnSp>
        <p:nvCxnSpPr>
          <p:cNvPr id="11283" name="Straight Arrow Connector 19">
            <a:extLst>
              <a:ext uri="{FF2B5EF4-FFF2-40B4-BE49-F238E27FC236}">
                <a16:creationId xmlns:a16="http://schemas.microsoft.com/office/drawing/2014/main" id="{3A885648-DBED-494D-9B2B-F9775D738C5F}"/>
              </a:ext>
            </a:extLst>
          </p:cNvPr>
          <p:cNvCxnSpPr>
            <a:cxnSpLocks noChangeShapeType="1"/>
            <a:stCxn id="11282" idx="0"/>
            <a:endCxn id="11271" idx="4"/>
          </p:cNvCxnSpPr>
          <p:nvPr/>
        </p:nvCxnSpPr>
        <p:spPr bwMode="auto">
          <a:xfrm rot="16200000" flipV="1">
            <a:off x="1494632" y="4944268"/>
            <a:ext cx="609600" cy="1698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4" name="Straight Arrow Connector 21">
            <a:extLst>
              <a:ext uri="{FF2B5EF4-FFF2-40B4-BE49-F238E27FC236}">
                <a16:creationId xmlns:a16="http://schemas.microsoft.com/office/drawing/2014/main" id="{348386C4-F6C3-4E7B-BF5D-A89FA8ADDB15}"/>
              </a:ext>
            </a:extLst>
          </p:cNvPr>
          <p:cNvCxnSpPr>
            <a:cxnSpLocks noChangeShapeType="1"/>
            <a:stCxn id="11282" idx="0"/>
            <a:endCxn id="11272" idx="4"/>
          </p:cNvCxnSpPr>
          <p:nvPr/>
        </p:nvCxnSpPr>
        <p:spPr bwMode="auto">
          <a:xfrm rot="5400000" flipH="1" flipV="1">
            <a:off x="1761332" y="4847431"/>
            <a:ext cx="609600" cy="3635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5" name="Straight Arrow Connector 23">
            <a:extLst>
              <a:ext uri="{FF2B5EF4-FFF2-40B4-BE49-F238E27FC236}">
                <a16:creationId xmlns:a16="http://schemas.microsoft.com/office/drawing/2014/main" id="{A49BEB34-3B3C-4C74-835C-6B646FC4A729}"/>
              </a:ext>
            </a:extLst>
          </p:cNvPr>
          <p:cNvCxnSpPr>
            <a:cxnSpLocks noChangeShapeType="1"/>
            <a:stCxn id="11282" idx="0"/>
            <a:endCxn id="11273" idx="3"/>
          </p:cNvCxnSpPr>
          <p:nvPr/>
        </p:nvCxnSpPr>
        <p:spPr bwMode="auto">
          <a:xfrm rot="5400000" flipH="1" flipV="1">
            <a:off x="2292351" y="4500562"/>
            <a:ext cx="425450" cy="12414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6" name="Straight Arrow Connector 25">
            <a:extLst>
              <a:ext uri="{FF2B5EF4-FFF2-40B4-BE49-F238E27FC236}">
                <a16:creationId xmlns:a16="http://schemas.microsoft.com/office/drawing/2014/main" id="{BB1B5D5D-00D8-498B-A653-76812518C89C}"/>
              </a:ext>
            </a:extLst>
          </p:cNvPr>
          <p:cNvCxnSpPr>
            <a:cxnSpLocks noChangeShapeType="1"/>
            <a:stCxn id="11282" idx="0"/>
            <a:endCxn id="11279" idx="2"/>
          </p:cNvCxnSpPr>
          <p:nvPr/>
        </p:nvCxnSpPr>
        <p:spPr bwMode="auto">
          <a:xfrm rot="16200000" flipH="1">
            <a:off x="2656682" y="4561681"/>
            <a:ext cx="457200" cy="20018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7" name="Straight Arrow Connector 27">
            <a:extLst>
              <a:ext uri="{FF2B5EF4-FFF2-40B4-BE49-F238E27FC236}">
                <a16:creationId xmlns:a16="http://schemas.microsoft.com/office/drawing/2014/main" id="{27C8F5F7-FDCD-4F47-BE5A-AFD7A6615D56}"/>
              </a:ext>
            </a:extLst>
          </p:cNvPr>
          <p:cNvCxnSpPr>
            <a:cxnSpLocks noChangeShapeType="1"/>
            <a:stCxn id="11282" idx="0"/>
            <a:endCxn id="11281" idx="2"/>
          </p:cNvCxnSpPr>
          <p:nvPr/>
        </p:nvCxnSpPr>
        <p:spPr bwMode="auto">
          <a:xfrm rot="5400000" flipH="1" flipV="1">
            <a:off x="2808288" y="4410075"/>
            <a:ext cx="1588" cy="1849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8F75F00-ED21-420F-87B0-8D857722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Orthogonality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FBA8A13-6F1D-4BA4-A450-12732FD5C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Another example of orthogonality</a:t>
            </a:r>
          </a:p>
          <a:p>
            <a:pPr lvl="1"/>
            <a:r>
              <a:rPr lang="en-US" altLang="en-US"/>
              <a:t>Java: i = (j&lt;0 ? -1 : 1);</a:t>
            </a:r>
          </a:p>
          <a:p>
            <a:pPr lvl="2"/>
            <a:r>
              <a:rPr lang="en-US" altLang="en-US"/>
              <a:t>Java needs a special operator to represent a conditional expression; "if" is not orthogonal.</a:t>
            </a:r>
          </a:p>
          <a:p>
            <a:pPr lvl="1"/>
            <a:r>
              <a:rPr lang="en-US" altLang="en-US"/>
              <a:t>Ruby: i = if j&lt;0</a:t>
            </a:r>
            <a:br>
              <a:rPr lang="en-US" altLang="en-US"/>
            </a:br>
            <a:r>
              <a:rPr lang="en-US" altLang="en-US"/>
              <a:t>                  -1</a:t>
            </a:r>
            <a:br>
              <a:rPr lang="en-US" altLang="en-US"/>
            </a:br>
            <a:r>
              <a:rPr lang="en-US" altLang="en-US"/>
              <a:t>               else</a:t>
            </a:r>
            <a:br>
              <a:rPr lang="en-US" altLang="en-US"/>
            </a:br>
            <a:r>
              <a:rPr lang="en-US" altLang="en-US"/>
              <a:t>                  1</a:t>
            </a:r>
            <a:br>
              <a:rPr lang="en-US" altLang="en-US"/>
            </a:br>
            <a:r>
              <a:rPr lang="en-US" altLang="en-US"/>
              <a:t>               end</a:t>
            </a:r>
          </a:p>
          <a:p>
            <a:pPr lvl="2"/>
            <a:r>
              <a:rPr lang="en-US" altLang="en-US"/>
              <a:t>Ruby's if "statement" is actually an expression, so there is no need for a special conditional operator.</a:t>
            </a:r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C6B78A38-1D6E-4A2C-ABF4-1D914B8C16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ACEAFD46-6116-4318-A9CF-9435E0FA2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DDCD8E0-4B2F-4886-8A8D-1E3F81AD5401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24242438-AA8B-4DDC-9E0E-0580054154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3315" name="Slide Number Placeholder 4">
            <a:extLst>
              <a:ext uri="{FF2B5EF4-FFF2-40B4-BE49-F238E27FC236}">
                <a16:creationId xmlns:a16="http://schemas.microsoft.com/office/drawing/2014/main" id="{9E1750DE-37D6-47F4-A20B-10E892D62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8D54B75-FC86-414B-846F-7D9DC00CC2F0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0F5F5E1D-0051-4405-A824-2BC7F8327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Readability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1FA8524D-0917-461E-A055-E2324DCB1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876800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 dirty="0"/>
              <a:t>Data types: Should be adequate (counterexample: no Boolean in C)</a:t>
            </a:r>
          </a:p>
          <a:p>
            <a:pPr marL="381000" indent="-381000" eaLnBrk="1" hangingPunct="1">
              <a:lnSpc>
                <a:spcPct val="80000"/>
              </a:lnSpc>
            </a:pPr>
            <a:r>
              <a:rPr lang="en-US" altLang="en-US" sz="2000" dirty="0"/>
              <a:t>Syntax considerations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Identifiers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/>
              <a:t>Bad example: ANSI Minimal BASIC (1978) requires one-letter (possibly followed by one digit) identifiers!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Choice of special words (e.g.,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2000" dirty="0"/>
              <a:t>,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2000" dirty="0"/>
              <a:t>)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Methods of forming compound statements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}</a:t>
            </a:r>
            <a:r>
              <a:rPr lang="en-US" altLang="en-US" sz="1700" dirty="0"/>
              <a:t> in C and C-like languages (Java, C++, C#, JavaScript)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700" dirty="0"/>
              <a:t> ... 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end if </a:t>
            </a:r>
            <a:r>
              <a:rPr lang="en-US" altLang="en-US" sz="1700" dirty="0"/>
              <a:t>in some languages, such as Ada and Ruby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if ... </a:t>
            </a:r>
            <a:r>
              <a:rPr lang="en-US" alt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... else ... fi </a:t>
            </a:r>
            <a:r>
              <a:rPr lang="en-US" altLang="en-US" sz="1700" dirty="0"/>
              <a:t>in bash scripting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altLang="en-US" sz="2000" dirty="0"/>
              <a:t>Form and meaning: Ideally, constructs are self-descriptive, keywords are meaningful; meaning (semantics) should follow from form (syntax).</a:t>
            </a:r>
          </a:p>
          <a:p>
            <a:pPr marL="1200150" lvl="2" indent="-342900" eaLnBrk="1" hangingPunct="1">
              <a:lnSpc>
                <a:spcPct val="80000"/>
              </a:lnSpc>
            </a:pPr>
            <a:r>
              <a:rPr lang="en-US" altLang="en-US" sz="1700" dirty="0"/>
              <a:t>Counterexample: 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700" dirty="0"/>
              <a:t> keyword in C means very different things depending on context (either restricts scope to file if variable is global or specifies non-dynamic memory allocation if variable is local)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0B46B248-34C7-4218-98AF-9CAF454495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3C39C8DA-F3AD-4CC4-9CA2-BB180B7B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2E6B709-9CFE-4CE4-B460-458EB3F57ED5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E79F86E9-62B7-4945-88E9-3152D79EA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Writability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A85DC5CC-1415-4263-92CB-4B2304BA7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4876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2000" dirty="0"/>
              <a:t>Simplicity and orthogonality</a:t>
            </a:r>
          </a:p>
          <a:p>
            <a:pPr lvl="1" eaLnBrk="1" hangingPunct="1"/>
            <a:r>
              <a:rPr lang="en-US" altLang="en-US" sz="2000" dirty="0"/>
              <a:t>Large number of features can lead to errors due to misunderstanding some features or accidentally using a feature.</a:t>
            </a:r>
          </a:p>
          <a:p>
            <a:pPr lvl="2" eaLnBrk="1" hangingPunct="1"/>
            <a:r>
              <a:rPr lang="en-US" altLang="en-US" sz="1700" dirty="0"/>
              <a:t>Using = when you meant == and there's no error...</a:t>
            </a:r>
            <a:endParaRPr lang="en-US" altLang="en-US" sz="2000" dirty="0"/>
          </a:p>
          <a:p>
            <a:pPr eaLnBrk="1" hangingPunct="1"/>
            <a:r>
              <a:rPr lang="en-US" altLang="en-US" sz="2000" dirty="0"/>
              <a:t>Support for </a:t>
            </a:r>
            <a:r>
              <a:rPr lang="en-US" altLang="en-US" sz="2000" b="1" dirty="0"/>
              <a:t>abstraction</a:t>
            </a:r>
          </a:p>
          <a:p>
            <a:pPr lvl="1" eaLnBrk="1" hangingPunct="1"/>
            <a:r>
              <a:rPr lang="en-US" altLang="en-US" sz="2000" dirty="0"/>
              <a:t>The ability to easily define and use complex structures or operations in ways that allow details to be ignored</a:t>
            </a:r>
          </a:p>
          <a:p>
            <a:pPr eaLnBrk="1" hangingPunct="1"/>
            <a:r>
              <a:rPr lang="en-US" altLang="en-US" sz="2000" dirty="0"/>
              <a:t>Expressivity</a:t>
            </a:r>
          </a:p>
          <a:p>
            <a:pPr lvl="1" eaLnBrk="1" hangingPunct="1"/>
            <a:r>
              <a:rPr lang="en-US" altLang="en-US" sz="2000" dirty="0"/>
              <a:t>A set of relatively convenient ways of specifying computations (e.g.,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en-US" sz="2000" dirty="0"/>
              <a:t>,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2000" dirty="0"/>
              <a:t> over elements of a collection)</a:t>
            </a:r>
          </a:p>
          <a:p>
            <a:pPr lvl="1" eaLnBrk="1" hangingPunct="1"/>
            <a:r>
              <a:rPr lang="en-US" altLang="en-US" sz="2000" dirty="0"/>
              <a:t>Can also refer to "strength" of operators, ability to perform a great deal of computing with little coding (e.g., list slices in Python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a[3:5]</a:t>
            </a:r>
            <a:r>
              <a:rPr lang="en-US" altLang="en-US" sz="2000" dirty="0"/>
              <a:t>)</a:t>
            </a:r>
          </a:p>
          <a:p>
            <a:pPr lvl="1" eaLnBrk="1" hangingPunct="1"/>
            <a:r>
              <a:rPr lang="en-US" altLang="en-US" sz="2000" dirty="0"/>
              <a:t>Number of language operators/predefined functions</a:t>
            </a:r>
          </a:p>
          <a:p>
            <a:pPr lvl="1" eaLnBrk="1" hangingPunct="1">
              <a:buFontTx/>
              <a:buNone/>
            </a:pPr>
            <a:endParaRPr lang="en-US" altLang="en-US" sz="1800" dirty="0"/>
          </a:p>
          <a:p>
            <a:pPr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FF593917-2A5B-42E6-B1AC-BF490470A9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71AEA85E-9ACB-445E-83CF-9494CD7B35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61DAFF3-E0A6-4F30-B1C5-2DBF499D1ACE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399F3EB4-13DF-43AE-A54D-90BCF488B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Reliability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60AA6F7E-F982-48FD-A6F6-1275150C4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Type checking</a:t>
            </a:r>
          </a:p>
          <a:p>
            <a:pPr lvl="1" eaLnBrk="1" hangingPunct="1"/>
            <a:r>
              <a:rPr lang="en-US" altLang="en-US" sz="1800" dirty="0"/>
              <a:t>Testing for data type errors, e.g., assign text string to an int</a:t>
            </a:r>
          </a:p>
          <a:p>
            <a:pPr eaLnBrk="1" hangingPunct="1"/>
            <a:r>
              <a:rPr lang="en-US" altLang="en-US" sz="2400" dirty="0"/>
              <a:t>Exception handling</a:t>
            </a:r>
          </a:p>
          <a:p>
            <a:pPr lvl="1" eaLnBrk="1" hangingPunct="1"/>
            <a:r>
              <a:rPr lang="en-US" altLang="en-US" sz="1800" dirty="0"/>
              <a:t>Intercept run-time errors and take corrective measures</a:t>
            </a:r>
          </a:p>
          <a:p>
            <a:pPr eaLnBrk="1" hangingPunct="1"/>
            <a:r>
              <a:rPr lang="en-US" altLang="en-US" sz="2400" b="1" dirty="0"/>
              <a:t>Aliasing</a:t>
            </a:r>
          </a:p>
          <a:p>
            <a:pPr lvl="1" eaLnBrk="1" hangingPunct="1"/>
            <a:r>
              <a:rPr lang="en-US" altLang="en-US" sz="1800" dirty="0"/>
              <a:t>Presence of two or more distinct referencing methods for the same memory location (restricting can increase reliability)</a:t>
            </a:r>
          </a:p>
          <a:p>
            <a:pPr lvl="1" eaLnBrk="1" hangingPunct="1"/>
            <a:r>
              <a:rPr lang="en-US" altLang="en-US" sz="1800" dirty="0"/>
              <a:t>Java: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Complex a = new Complex(1.0,2.0); Complex b = a;</a:t>
            </a:r>
          </a:p>
          <a:p>
            <a:pPr eaLnBrk="1" hangingPunct="1"/>
            <a:r>
              <a:rPr lang="en-US" altLang="en-US" sz="2400" dirty="0"/>
              <a:t>Readability and writability</a:t>
            </a:r>
          </a:p>
          <a:p>
            <a:pPr lvl="1" eaLnBrk="1" hangingPunct="1"/>
            <a:r>
              <a:rPr lang="en-US" altLang="en-US" sz="1800" dirty="0"/>
              <a:t>A language that does not support “natural” or "simple" ways of expressing an algorithm will require the use  of “unnatural” or "complex" approaches, and hence reduce reliability (e.g., having to write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i+1</a:t>
            </a:r>
            <a:r>
              <a:rPr lang="en-US" altLang="en-US" sz="1800" dirty="0"/>
              <a:t> rather than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+=1</a:t>
            </a:r>
            <a:r>
              <a:rPr lang="en-US" altLang="en-US" sz="1800" dirty="0"/>
              <a:t>, lack of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each </a:t>
            </a:r>
            <a:r>
              <a:rPr lang="en-US" altLang="en-US" sz="1800" dirty="0"/>
              <a:t>construct) 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DECBFEAB-1839-4621-A2A0-9D2E979FC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A9F03164-E4FC-44A4-89FE-431CEE290A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EB559F4-36EA-4E44-BBCF-704560BB10EE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5334DF6-B48E-42DD-A206-67C8AA426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Cost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7F9424D6-9369-47BB-A7AC-AC2883EA4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9248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Time to train programmers to use the language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Time required to write programs (suitability to particular applications)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Compilation/Execution time (time developers spend waiting for results)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Financial cost of development tools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Financial costs related to reliability: poor reliability can lead to extremely high costs (lawsuits etc.)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Cost of maintaining project software following initial development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Maintenance can cost ~2-4x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A2FE0997-8C92-4088-9D8D-4BA1555F2A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F5AAB024-6A69-455B-89B2-22F5BF9A68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C1F1CEC-0D24-4032-B720-1C06FEFEC90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030AE9ED-8602-4418-BD48-A757AF6D6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Criteria: Others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DE7455E3-C454-4AD4-A39F-470CC88FD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dirty="0"/>
              <a:t>Portability</a:t>
            </a:r>
          </a:p>
          <a:p>
            <a:pPr lvl="1" eaLnBrk="1" hangingPunct="1">
              <a:defRPr/>
            </a:pPr>
            <a:r>
              <a:rPr lang="en-US" altLang="en-US" dirty="0"/>
              <a:t>The ease with which programs written in a language can be moved from one implementation of the language to another</a:t>
            </a:r>
          </a:p>
          <a:p>
            <a:pPr lvl="2" eaLnBrk="1" hangingPunct="1">
              <a:defRPr/>
            </a:pPr>
            <a:r>
              <a:rPr lang="en-US" altLang="en-US" dirty="0"/>
              <a:t>Major selling point (not quite true) for Java: "write once, run everywhere"</a:t>
            </a:r>
          </a:p>
          <a:p>
            <a:pPr eaLnBrk="1" hangingPunct="1">
              <a:defRPr/>
            </a:pPr>
            <a:r>
              <a:rPr lang="en-US" altLang="en-US" dirty="0"/>
              <a:t>Generality</a:t>
            </a:r>
          </a:p>
          <a:p>
            <a:pPr lvl="1" eaLnBrk="1" hangingPunct="1">
              <a:defRPr/>
            </a:pPr>
            <a:r>
              <a:rPr lang="en-US" altLang="en-US" dirty="0"/>
              <a:t>The applicability to a wide range of applications</a:t>
            </a:r>
          </a:p>
          <a:p>
            <a:pPr lvl="2" eaLnBrk="1" hangingPunct="1">
              <a:defRPr/>
            </a:pPr>
            <a:r>
              <a:rPr lang="en-US" altLang="en-US" dirty="0"/>
              <a:t>Prolog would be a negative example</a:t>
            </a:r>
          </a:p>
          <a:p>
            <a:pPr eaLnBrk="1" hangingPunct="1">
              <a:defRPr/>
            </a:pPr>
            <a:r>
              <a:rPr lang="en-US" altLang="en-US" dirty="0"/>
              <a:t>Well-</a:t>
            </a:r>
            <a:r>
              <a:rPr lang="en-US" altLang="en-US" dirty="0" err="1"/>
              <a:t>definedness</a:t>
            </a: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The completeness and precision of the language’s official definition</a:t>
            </a:r>
          </a:p>
          <a:p>
            <a:pPr lvl="2" eaLnBrk="1" hangingPunct="1">
              <a:defRPr/>
            </a:pPr>
            <a:r>
              <a:rPr lang="en-US" altLang="en-US" dirty="0"/>
              <a:t>Ruby existed for many years without a standard definition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8E6CF19C-9C38-4B2F-B0B0-B02CCC7A21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E2C983B2-CC3A-46F0-94DF-99FAC34B47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5AEFC04-BAE9-46DC-8F32-A14ACF62AED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0F7CFDF1-DA39-46FA-A3CD-F773D83B5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Language Design Trade-Offs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6E5E7E64-988E-4B52-8F12-A60931A76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Reliability vs. cost of execution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Example: Java demands all references to array elements be checked for proper indexing, which leads to increased execution costs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Readability vs. writability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/>
              <a:t>Example: APL provides many powerful operators (and a large number of new symbols), allowing complex computations to be written in a compact program but at the cost of poor</a:t>
            </a:r>
            <a:r>
              <a:rPr lang="en-US" altLang="en-US"/>
              <a:t> </a:t>
            </a:r>
            <a:r>
              <a:rPr lang="en-US" altLang="en-US" sz="2000"/>
              <a:t>readability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Writability (flexibility) vs. reliability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Example: C/C++ pointers are powerful and very flexible but can lead to hard-to-find bugs (lower reliability)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F64A0443-057F-42A6-9CFD-4208DE0044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81C6745D-D959-4AE1-92F0-F4626D1BA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193C528-DA8C-477F-AC77-709670ADD58A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7F87A958-44E5-4464-9735-5FA01B83E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Language Categories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F4D39C73-7B89-41BA-BF42-FF67D911D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Imperative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Central features are variables, assignment statements, and iteration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Includes languages that support object-oriented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Includes scripting languages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Includes visual languages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Examples: </a:t>
            </a:r>
            <a:r>
              <a:rPr lang="en-US" altLang="en-US" sz="1800" b="1" dirty="0"/>
              <a:t>C</a:t>
            </a:r>
            <a:r>
              <a:rPr lang="en-US" altLang="en-US" sz="1800" dirty="0"/>
              <a:t>, </a:t>
            </a:r>
            <a:r>
              <a:rPr lang="en-US" altLang="en-US" sz="1800" b="1" dirty="0"/>
              <a:t>Java</a:t>
            </a:r>
            <a:r>
              <a:rPr lang="en-US" altLang="en-US" sz="1800" dirty="0"/>
              <a:t>, </a:t>
            </a:r>
            <a:r>
              <a:rPr lang="en-US" altLang="en-US" sz="1800" b="1" dirty="0"/>
              <a:t>Python</a:t>
            </a:r>
            <a:r>
              <a:rPr lang="en-US" altLang="en-US" sz="1800" dirty="0"/>
              <a:t>, </a:t>
            </a:r>
            <a:r>
              <a:rPr lang="en-US" altLang="en-US" sz="1800" b="1" dirty="0"/>
              <a:t>JavaScript</a:t>
            </a:r>
            <a:r>
              <a:rPr lang="en-US" altLang="en-US" sz="1800" dirty="0"/>
              <a:t>, </a:t>
            </a:r>
            <a:r>
              <a:rPr lang="en-US" altLang="en-US" sz="1800" b="1" dirty="0"/>
              <a:t>Ruby</a:t>
            </a:r>
            <a:r>
              <a:rPr lang="en-US" altLang="en-US" sz="1800" dirty="0"/>
              <a:t>, </a:t>
            </a:r>
            <a:r>
              <a:rPr lang="en-US" altLang="en-US" sz="1800" b="1" dirty="0"/>
              <a:t>C#</a:t>
            </a:r>
            <a:r>
              <a:rPr lang="en-US" altLang="en-US" sz="1800" dirty="0"/>
              <a:t>, </a:t>
            </a:r>
            <a:r>
              <a:rPr lang="en-US" altLang="en-US" sz="1800" b="1" dirty="0"/>
              <a:t>C++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Functional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Main means of making computations is by applying functions to given parameters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500" dirty="0"/>
              <a:t>Recursion is naturally functional and tends to be used more than iterative loop constructs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Examples: LISP, </a:t>
            </a:r>
            <a:r>
              <a:rPr lang="en-US" altLang="en-US" sz="1800" b="1" dirty="0"/>
              <a:t>Scheme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Logic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Rule-based (rules are specified in no particular order)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Example: </a:t>
            </a:r>
            <a:r>
              <a:rPr lang="en-US" altLang="en-US" sz="1800" b="1" dirty="0"/>
              <a:t>Prolog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0985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3696B184-7FFB-460E-A692-A90B2CEBF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id="{02526D92-2F28-42A2-8439-F61DEC747C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71E5B20-DDB5-4B07-924B-4F715D61CE71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3D6E01DF-91C8-49B0-87C8-638876BE8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Influences on Language Design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1B033657-ECB9-41CE-B357-A93A305E5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Computer Architecture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Most languages are developed around the prevalent computer architecture, known as the </a:t>
            </a:r>
            <a:r>
              <a:rPr lang="en-US" altLang="en-US" i="1" dirty="0"/>
              <a:t>von Neumann</a:t>
            </a:r>
            <a:r>
              <a:rPr lang="en-US" altLang="en-US" dirty="0"/>
              <a:t> architecture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Programming Methodologies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New software development methodologies (e.g., object-oriented software development) led to new programming paradigms and by extension, new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485259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0B642B7B-3D7C-450A-96B3-F7C5EF8768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5603" name="Slide Number Placeholder 4">
            <a:extLst>
              <a:ext uri="{FF2B5EF4-FFF2-40B4-BE49-F238E27FC236}">
                <a16:creationId xmlns:a16="http://schemas.microsoft.com/office/drawing/2014/main" id="{FC1A581E-81A7-4837-82DD-C67D223D2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C180D99-9167-4DEB-8232-CD33E6F328D6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9E45D46A-CA28-4CC9-B0E7-606B4C5FB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Programming Methodologies Influences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0E683511-E170-402A-952E-DC75C3A0B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/>
              <a:t>1950s and early 1960s: Simple applications; efficient use of compute time and memory a major concern</a:t>
            </a:r>
          </a:p>
          <a:p>
            <a:pPr eaLnBrk="1" hangingPunct="1"/>
            <a:r>
              <a:rPr lang="en-US" altLang="en-US" sz="2400"/>
              <a:t>Late 1960s: People efficiency became major concern: readability, writability more important</a:t>
            </a:r>
          </a:p>
          <a:p>
            <a:pPr lvl="1" eaLnBrk="1" hangingPunct="1"/>
            <a:r>
              <a:rPr lang="en-US" altLang="en-US" sz="2000"/>
              <a:t>structured programming</a:t>
            </a:r>
          </a:p>
          <a:p>
            <a:pPr lvl="1" eaLnBrk="1" hangingPunct="1"/>
            <a:r>
              <a:rPr lang="en-US" altLang="en-US" sz="2000"/>
              <a:t>top-down design and step-wise refinement</a:t>
            </a:r>
          </a:p>
          <a:p>
            <a:pPr eaLnBrk="1" hangingPunct="1"/>
            <a:r>
              <a:rPr lang="en-US" altLang="en-US" sz="2400"/>
              <a:t>Late 1970s: Process-oriented to data-oriented</a:t>
            </a:r>
          </a:p>
          <a:p>
            <a:pPr lvl="1" eaLnBrk="1" hangingPunct="1"/>
            <a:r>
              <a:rPr lang="en-US" altLang="en-US" sz="2000"/>
              <a:t>Increasing importance of data abstraction</a:t>
            </a:r>
          </a:p>
          <a:p>
            <a:pPr eaLnBrk="1" hangingPunct="1"/>
            <a:r>
              <a:rPr lang="en-US" altLang="en-US" sz="2400"/>
              <a:t>Middle 1980s: Object-oriented programming</a:t>
            </a:r>
          </a:p>
          <a:p>
            <a:pPr lvl="1" eaLnBrk="1" hangingPunct="1"/>
            <a:r>
              <a:rPr lang="en-US" altLang="en-US" sz="2000"/>
              <a:t>Data abstraction + inheritance + polymorphism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AEB60A42-806A-4A4E-8C94-46869E4C3C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50EA66AC-4618-4D72-B1E5-A24A06A95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6DB1709-341C-4B2A-B083-6F787AA8D839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3F31A35-AF49-4684-B9D4-3D50A9C20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Architecture Influence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C7617F35-9EA2-4367-837F-122C47779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Well-known computer architecture: Von Neumann </a:t>
            </a:r>
          </a:p>
          <a:p>
            <a:pPr lvl="1" eaLnBrk="1" hangingPunct="1"/>
            <a:r>
              <a:rPr lang="en-US" altLang="en-US" sz="2000" dirty="0"/>
              <a:t>Data and programs stored in memory</a:t>
            </a:r>
          </a:p>
          <a:p>
            <a:pPr lvl="1" eaLnBrk="1" hangingPunct="1"/>
            <a:r>
              <a:rPr lang="en-US" altLang="en-US" sz="2000" dirty="0"/>
              <a:t>Memory is separate from CPU</a:t>
            </a:r>
          </a:p>
          <a:p>
            <a:pPr lvl="1" eaLnBrk="1" hangingPunct="1"/>
            <a:r>
              <a:rPr lang="en-US" altLang="en-US" sz="2000" dirty="0"/>
              <a:t>Instructions and data are piped from memory to CPU</a:t>
            </a:r>
            <a:endParaRPr lang="en-US" altLang="en-US" sz="19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8795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>
            <a:extLst>
              <a:ext uri="{FF2B5EF4-FFF2-40B4-BE49-F238E27FC236}">
                <a16:creationId xmlns:a16="http://schemas.microsoft.com/office/drawing/2014/main" id="{E502712D-4527-4F54-BF06-012D53445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21AF48E2-1C84-42EF-AAC4-42BE48570C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2D77466-7D54-40CE-ACF3-BD0980E171B3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48DB9640-9BDE-494E-959D-94518531F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von Neumann Architecture</a:t>
            </a: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B7BEEDBF-EA9A-4400-BF04-3669DC2AF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70866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793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62FCA29B-852B-444B-BF4B-EF6FEAFCC8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id="{26F1FB52-B0F1-4580-8D02-985A84A430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8EA8041-66E7-49B8-B1BE-A84216BB2CDA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C06E7E53-1F94-4975-B2AF-2FEF3DDBF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von Neumann Architecture</a:t>
            </a:r>
            <a:endParaRPr lang="es-MX" altLang="en-US"/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74DABA1F-1098-4735-BCD7-F0F66873A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Fetch-execute cycle (on a von Neumann architecture computer)</a:t>
            </a:r>
          </a:p>
          <a:p>
            <a:pPr lvl="1" eaLnBrk="1" hangingPunct="1"/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initialize the program counter</a:t>
            </a:r>
          </a:p>
          <a:p>
            <a:pPr lvl="1"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repeat</a:t>
            </a:r>
            <a:r>
              <a:rPr lang="en-US" altLang="en-US" sz="2000" dirty="0">
                <a:latin typeface="Courier New" panose="02070309020205020404" pitchFamily="49" charset="0"/>
              </a:rPr>
              <a:t> forever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fetch the instruction pointed at by the counter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increment the counter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decode the instruction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execute the instruction (might change counter)</a:t>
            </a:r>
          </a:p>
          <a:p>
            <a:pPr lvl="1"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end repeat</a:t>
            </a:r>
            <a:endParaRPr lang="es-MX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91688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AEB60A42-806A-4A4E-8C94-46869E4C3C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50EA66AC-4618-4D72-B1E5-A24A06A95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6DB1709-341C-4B2A-B083-6F787AA8D839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3F31A35-AF49-4684-B9D4-3D50A9C20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Architecture Influence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C7617F35-9EA2-4367-837F-122C47779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Imperative languages are dominant at least in part because of the use of von Neumann computers</a:t>
            </a:r>
          </a:p>
          <a:p>
            <a:pPr lvl="1" eaLnBrk="1" hangingPunct="1"/>
            <a:r>
              <a:rPr lang="en-US" altLang="en-US" sz="2200" dirty="0"/>
              <a:t>Variables model memory cells</a:t>
            </a:r>
          </a:p>
          <a:p>
            <a:pPr lvl="1" eaLnBrk="1" hangingPunct="1"/>
            <a:r>
              <a:rPr lang="en-US" altLang="en-US" sz="2200" dirty="0"/>
              <a:t>Assignment statements model storing data in memory cells</a:t>
            </a:r>
          </a:p>
          <a:p>
            <a:pPr lvl="1" eaLnBrk="1" hangingPunct="1"/>
            <a:r>
              <a:rPr lang="en-US" altLang="en-US" sz="2200" dirty="0"/>
              <a:t>Iteration fits the fetch-execute cycle more naturally than recursion</a:t>
            </a:r>
          </a:p>
          <a:p>
            <a:pPr lvl="2" eaLnBrk="1" hangingPunct="1"/>
            <a:endParaRPr lang="en-US" altLang="en-US" sz="19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2758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162FA6D4-6730-407F-BBCE-C6848C0B5E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627DF194-9403-4072-9F4C-7D611D0B6C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AF5FCC9-B0BC-4EBF-8746-106744B8BE7B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8DDC34FD-9EF7-4E34-813E-5D4E1388C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Language Implementation Methods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B018B593-256D-44C0-9597-094CE4CA2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 dirty="0"/>
              <a:t>Compilation</a:t>
            </a:r>
          </a:p>
          <a:p>
            <a:pPr lvl="1" eaLnBrk="1" hangingPunct="1"/>
            <a:r>
              <a:rPr lang="en-US" altLang="en-US" sz="2000" dirty="0"/>
              <a:t>Programs are translated into machine language; includes Just-in-Time (JIT) systems</a:t>
            </a:r>
          </a:p>
          <a:p>
            <a:pPr lvl="1" eaLnBrk="1" hangingPunct="1"/>
            <a:r>
              <a:rPr lang="en-US" altLang="en-US" sz="2000" dirty="0"/>
              <a:t>Use: Lage commercial applications</a:t>
            </a:r>
          </a:p>
          <a:p>
            <a:pPr lvl="1" eaLnBrk="1" hangingPunct="1">
              <a:buFontTx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400" dirty="0"/>
              <a:t>Pure Interpretation</a:t>
            </a:r>
          </a:p>
          <a:p>
            <a:pPr lvl="1" eaLnBrk="1" hangingPunct="1"/>
            <a:r>
              <a:rPr lang="en-US" altLang="en-US" sz="2000" dirty="0"/>
              <a:t>Programs are executed line-by-line by another program known as an interpreter</a:t>
            </a:r>
          </a:p>
          <a:p>
            <a:pPr lvl="1" eaLnBrk="1" hangingPunct="1"/>
            <a:r>
              <a:rPr lang="en-US" altLang="en-US" sz="2000" dirty="0"/>
              <a:t>Use: Small programs or when efficiency is not an issue</a:t>
            </a:r>
          </a:p>
          <a:p>
            <a:pPr lvl="1" eaLnBrk="1" hangingPunct="1">
              <a:buFontTx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400" dirty="0"/>
              <a:t>Hybrid Implementation Systems</a:t>
            </a:r>
          </a:p>
          <a:p>
            <a:pPr lvl="1" eaLnBrk="1" hangingPunct="1"/>
            <a:r>
              <a:rPr lang="en-US" altLang="en-US" sz="2000" dirty="0"/>
              <a:t>A compromise between compilers and pure interpreters</a:t>
            </a:r>
          </a:p>
          <a:p>
            <a:pPr lvl="1" eaLnBrk="1" hangingPunct="1"/>
            <a:r>
              <a:rPr lang="en-US" altLang="en-US" sz="2000" dirty="0"/>
              <a:t>Use: Small and medium systems when efficiency is not the first concern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f01-02">
            <a:extLst>
              <a:ext uri="{FF2B5EF4-FFF2-40B4-BE49-F238E27FC236}">
                <a16:creationId xmlns:a16="http://schemas.microsoft.com/office/drawing/2014/main" id="{9DDC9850-EF43-4D33-B0C2-DAA37A27161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1295400"/>
            <a:ext cx="6883400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Footer Placeholder 3">
            <a:extLst>
              <a:ext uri="{FF2B5EF4-FFF2-40B4-BE49-F238E27FC236}">
                <a16:creationId xmlns:a16="http://schemas.microsoft.com/office/drawing/2014/main" id="{27FF95CE-BBE2-46CD-A892-E54EC85A58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4703145E-A62F-4CB4-B79F-3F793738AD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90DB1A0-936E-4EE0-8138-D4B032B3B41B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0D9024BE-3E6D-45A1-A659-7352B39D7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/>
              <a:t>Layered View of Computer</a:t>
            </a:r>
          </a:p>
        </p:txBody>
      </p:sp>
      <p:sp>
        <p:nvSpPr>
          <p:cNvPr id="29702" name="Text Box 5">
            <a:extLst>
              <a:ext uri="{FF2B5EF4-FFF2-40B4-BE49-F238E27FC236}">
                <a16:creationId xmlns:a16="http://schemas.microsoft.com/office/drawing/2014/main" id="{F34BD95F-65C0-4010-BE7C-1A3659E23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336675"/>
            <a:ext cx="321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MX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29703" name="Text Box 6">
            <a:extLst>
              <a:ext uri="{FF2B5EF4-FFF2-40B4-BE49-F238E27FC236}">
                <a16:creationId xmlns:a16="http://schemas.microsoft.com/office/drawing/2014/main" id="{CFB4D608-E241-43DC-AD5A-99B7BD281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412875"/>
            <a:ext cx="314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MX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5ED910F6-D05B-481C-A38C-0A1F397E8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25304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The operating system and language implementation are layered over machine interface of a computer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73FAAB1C-6311-4BC3-B923-314E52FCDE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58F272BE-B45D-40A0-BDB7-12ACCF9F8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C071013-F041-4C03-BFCC-2FA1F4145390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C2CAA7C5-CD5D-4659-B473-214556E63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Compilation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B7CE397E-4FB1-4EF9-80B1-FED7A7CDE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en-US" sz="2400" dirty="0"/>
              <a:t>Translate high-level program (source language) into another (object) language (bytecode or machine code)</a:t>
            </a:r>
          </a:p>
          <a:p>
            <a:pPr eaLnBrk="1" hangingPunct="1">
              <a:defRPr/>
            </a:pPr>
            <a:r>
              <a:rPr lang="en-US" altLang="en-US" sz="2400" dirty="0"/>
              <a:t>Slow translation, fast execution</a:t>
            </a:r>
          </a:p>
          <a:p>
            <a:pPr eaLnBrk="1" hangingPunct="1">
              <a:defRPr/>
            </a:pPr>
            <a:r>
              <a:rPr lang="en-US" altLang="en-US" sz="2400" dirty="0"/>
              <a:t>Compilation process has several phases: </a:t>
            </a:r>
          </a:p>
          <a:p>
            <a:pPr lvl="1" eaLnBrk="1" hangingPunct="1">
              <a:defRPr/>
            </a:pPr>
            <a:r>
              <a:rPr lang="en-US" altLang="en-US" sz="2000" dirty="0"/>
              <a:t>lexical analysis: converts characters in the source program into lexical units (e.g.,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==</a:t>
            </a:r>
            <a:r>
              <a:rPr lang="en-US" altLang="en-US" sz="2000" dirty="0"/>
              <a:t> is a single lexical unit)</a:t>
            </a:r>
          </a:p>
          <a:p>
            <a:pPr lvl="1" eaLnBrk="1" hangingPunct="1">
              <a:defRPr/>
            </a:pPr>
            <a:r>
              <a:rPr lang="en-US" altLang="en-US" sz="2000" dirty="0"/>
              <a:t>syntax analysis: transforms lexical units into </a:t>
            </a:r>
            <a:r>
              <a:rPr lang="en-US" altLang="en-US" sz="2000" i="1" dirty="0"/>
              <a:t>parse trees </a:t>
            </a:r>
            <a:r>
              <a:rPr lang="en-US" altLang="en-US" sz="2000" dirty="0"/>
              <a:t>which represent the syntactic structure of program</a:t>
            </a:r>
            <a:br>
              <a:rPr lang="en-US" altLang="en-US" sz="2000" dirty="0"/>
            </a:br>
            <a:r>
              <a:rPr lang="en-US" altLang="en-US" sz="2000" dirty="0"/>
              <a:t>(e.g., 2*3+4 becomes tree with + at root)</a:t>
            </a:r>
          </a:p>
          <a:p>
            <a:pPr lvl="1" eaLnBrk="1" hangingPunct="1">
              <a:defRPr/>
            </a:pPr>
            <a:r>
              <a:rPr lang="en-US" altLang="en-US" sz="2000" dirty="0"/>
              <a:t>semantic analysis: perform semantic checks (e.g., type checking), generate intermediate code</a:t>
            </a:r>
          </a:p>
          <a:p>
            <a:pPr lvl="1" eaLnBrk="1" hangingPunct="1">
              <a:defRPr/>
            </a:pPr>
            <a:r>
              <a:rPr lang="en-US" altLang="en-US" sz="2000" dirty="0"/>
              <a:t>code generation: optimization may be performed, object code is generated</a:t>
            </a:r>
          </a:p>
          <a:p>
            <a:pPr eaLnBrk="1" hangingPunct="1">
              <a:buFontTx/>
              <a:buNone/>
              <a:defRPr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>
            <a:extLst>
              <a:ext uri="{FF2B5EF4-FFF2-40B4-BE49-F238E27FC236}">
                <a16:creationId xmlns:a16="http://schemas.microsoft.com/office/drawing/2014/main" id="{ED57CD21-2D8A-433E-B48B-4CDA8626BC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490A41E0-1030-48C9-8769-9DFC8DE653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43D3C2E-1D0C-41D8-863B-22628D1553AD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E2428239-6A12-4A2D-80EC-3A20B3146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6477000" cy="1206500"/>
          </a:xfrm>
        </p:spPr>
        <p:txBody>
          <a:bodyPr/>
          <a:lstStyle/>
          <a:p>
            <a:pPr eaLnBrk="1" hangingPunct="1"/>
            <a:r>
              <a:rPr lang="en-US" altLang="en-US"/>
              <a:t>The Compilation Process</a:t>
            </a:r>
          </a:p>
        </p:txBody>
      </p:sp>
      <p:pic>
        <p:nvPicPr>
          <p:cNvPr id="31749" name="Picture 4">
            <a:extLst>
              <a:ext uri="{FF2B5EF4-FFF2-40B4-BE49-F238E27FC236}">
                <a16:creationId xmlns:a16="http://schemas.microsoft.com/office/drawing/2014/main" id="{0DDBED59-56BD-4AA0-8B97-B73C5E9F5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95400"/>
            <a:ext cx="4027488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602E7379-F96B-4234-9598-3E110184D8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A06AB9FE-A731-4F1A-8FA7-0DB806CC2F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3EEABA8-965A-4361-BF28-17FC3B6F59A3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D23081B9-0AC0-4F53-BF5C-AF3BA425B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Additional Compilation Terminologies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63421A22-1C95-4094-AF2E-1E6FC85B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Load module</a:t>
            </a:r>
            <a:r>
              <a:rPr lang="en-US" altLang="en-US" dirty="0"/>
              <a:t> (executable image): all user and system code together</a:t>
            </a:r>
          </a:p>
          <a:p>
            <a:pPr eaLnBrk="1" hangingPunct="1"/>
            <a:r>
              <a:rPr lang="en-US" altLang="en-US" b="1" dirty="0"/>
              <a:t>Linking</a:t>
            </a:r>
            <a:r>
              <a:rPr lang="en-US" altLang="en-US" dirty="0"/>
              <a:t>: the process of creating a load module</a:t>
            </a:r>
          </a:p>
          <a:p>
            <a:pPr lvl="1" eaLnBrk="1" hangingPunct="1"/>
            <a:r>
              <a:rPr lang="en-US" altLang="en-US" dirty="0"/>
              <a:t>Often in C/C++ must specify which libraries to link:</a:t>
            </a:r>
            <a:br>
              <a:rPr lang="en-US" altLang="en-US" dirty="0"/>
            </a:br>
            <a:r>
              <a:rPr lang="en-US" altLang="en-US" dirty="0"/>
              <a:t>  </a:t>
            </a:r>
            <a:r>
              <a:rPr lang="en-US" altLang="en-US" dirty="0" err="1"/>
              <a:t>gcc</a:t>
            </a:r>
            <a:r>
              <a:rPr lang="en-US" altLang="en-US" dirty="0"/>
              <a:t> </a:t>
            </a:r>
            <a:r>
              <a:rPr lang="en-US" altLang="en-US" dirty="0" err="1"/>
              <a:t>test.c</a:t>
            </a:r>
            <a:r>
              <a:rPr lang="en-US" altLang="en-US" dirty="0"/>
              <a:t> –o test -</a:t>
            </a:r>
            <a:r>
              <a:rPr lang="en-US" altLang="en-US" dirty="0" err="1"/>
              <a:t>lm</a:t>
            </a:r>
            <a:r>
              <a:rPr lang="en-US" altLang="en-US" dirty="0"/>
              <a:t> </a:t>
            </a:r>
            <a:r>
              <a:rPr lang="en-US" altLang="en-US" i="1" dirty="0"/>
              <a:t># m is math library</a:t>
            </a:r>
          </a:p>
          <a:p>
            <a:pPr eaLnBrk="1" hangingPunct="1"/>
            <a:r>
              <a:rPr lang="en-US" altLang="en-US" b="1" dirty="0"/>
              <a:t>Loading</a:t>
            </a:r>
            <a:r>
              <a:rPr lang="en-US" altLang="en-US" dirty="0"/>
              <a:t>: the operating system process of copying a load module into memory, possibly modifying addresses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B2380E23-FB93-46F3-80C1-622AAF7D2D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3795" name="Slide Number Placeholder 4">
            <a:extLst>
              <a:ext uri="{FF2B5EF4-FFF2-40B4-BE49-F238E27FC236}">
                <a16:creationId xmlns:a16="http://schemas.microsoft.com/office/drawing/2014/main" id="{F1E6273F-29EC-4614-AB04-6B378825D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D03B64E-B04B-4EEC-B4F3-EAEB7455D20A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C78441EF-E19B-4883-BFD9-88BD9A00B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Von Neumann Bottleneck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1153414E-0994-4819-9C23-4BD9A58A0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speed between a computer’s memory and its processor determines the speed of a computer</a:t>
            </a:r>
          </a:p>
          <a:p>
            <a:pPr eaLnBrk="1" hangingPunct="1"/>
            <a:r>
              <a:rPr lang="en-US" altLang="en-US"/>
              <a:t>Program instructions often can be executed much faster than the speed of the connection; the connection speed thus results in a </a:t>
            </a:r>
            <a:r>
              <a:rPr lang="en-US" altLang="en-US" i="1"/>
              <a:t>bottleneck</a:t>
            </a:r>
          </a:p>
          <a:p>
            <a:pPr eaLnBrk="1" hangingPunct="1"/>
            <a:r>
              <a:rPr lang="en-US" altLang="en-US"/>
              <a:t>Known as the </a:t>
            </a:r>
            <a:r>
              <a:rPr lang="en-US" altLang="en-US" i="1"/>
              <a:t>von Neumann bottleneck</a:t>
            </a:r>
            <a:r>
              <a:rPr lang="en-US" altLang="en-US"/>
              <a:t>; it is the primary limiting factor in the speed of computers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C7138A3C-039C-4084-9882-2234CF8FE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FAE97A64-A7B7-4DC1-832B-E5CDFAA77C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1F3AD04-3AAC-4658-8E07-ADAD578D6E67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75DF26B4-1BE6-4799-86BC-D733C4C6D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Pure Interpretation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CD03A808-3D70-4EDF-98E9-29B23663A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No translation</a:t>
            </a:r>
          </a:p>
          <a:p>
            <a:pPr eaLnBrk="1" hangingPunct="1"/>
            <a:r>
              <a:rPr lang="en-US" altLang="en-US" sz="2400" dirty="0"/>
              <a:t>Easier implementation of programs (run-time errors can easily and immediately be displayed)</a:t>
            </a:r>
          </a:p>
          <a:p>
            <a:pPr eaLnBrk="1" hangingPunct="1"/>
            <a:r>
              <a:rPr lang="en-US" altLang="en-US" sz="2400" dirty="0"/>
              <a:t>Slower execution (10 to 100 times slower than compiled programs)</a:t>
            </a:r>
          </a:p>
          <a:p>
            <a:pPr eaLnBrk="1" hangingPunct="1"/>
            <a:r>
              <a:rPr lang="en-US" altLang="en-US" sz="2400" dirty="0"/>
              <a:t>Often requires more space</a:t>
            </a:r>
          </a:p>
          <a:p>
            <a:pPr eaLnBrk="1" hangingPunct="1"/>
            <a:r>
              <a:rPr lang="en-US" altLang="en-US" sz="2400" dirty="0"/>
              <a:t>Now rare for traditional high-level languages</a:t>
            </a:r>
          </a:p>
          <a:p>
            <a:pPr eaLnBrk="1" hangingPunct="1"/>
            <a:r>
              <a:rPr lang="en-US" altLang="en-US" sz="2400" dirty="0"/>
              <a:t>In the early Web years, was a significant drawback with some Web scripting languages (e.g., JavaScript, PHP)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7D11F220-18DF-47AA-8C4F-691FC243C5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F8800A0-99FA-4B2F-B2C0-4D59544A2A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7ED8699-F370-4FD8-BB64-F599A08B8CD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D9C1DAC1-CB89-4A55-85F4-545DF4CEA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Pure Interpretation Process</a:t>
            </a:r>
          </a:p>
        </p:txBody>
      </p:sp>
      <p:pic>
        <p:nvPicPr>
          <p:cNvPr id="35845" name="Picture 4">
            <a:extLst>
              <a:ext uri="{FF2B5EF4-FFF2-40B4-BE49-F238E27FC236}">
                <a16:creationId xmlns:a16="http://schemas.microsoft.com/office/drawing/2014/main" id="{7123904B-5521-4DDD-84F4-B30643BD6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371600"/>
            <a:ext cx="37322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9DAC2F79-3DA9-4EF7-8D18-B554292B2C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034A8C8D-69E4-4FDD-B433-AE39BBA541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4AD58D4-D753-45B5-B50E-9AAAA1CC72E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B93DE1B4-E4D5-4647-9CF5-1600F061A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Hybrid Implementation Systems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7554B5AC-0A15-4E55-829D-5EB9A6722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 compromise between compilers and pure interpreters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high-level language program is translated to an intermediate language that allows easy interpretation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Faster than pure interpretation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Perl programs are partially compiled to detect errors before interpretation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Many implementations of Java were hybrid; the intermediate form, </a:t>
            </a:r>
            <a:r>
              <a:rPr lang="en-US" altLang="en-US" sz="2000" i="1"/>
              <a:t>byte code</a:t>
            </a:r>
            <a:r>
              <a:rPr lang="en-US" altLang="en-US" sz="2000"/>
              <a:t>, provides portability to any machine that has a byte code interpreter and a run-time system (together, these are called </a:t>
            </a:r>
            <a:r>
              <a:rPr lang="en-US" altLang="en-US" sz="2000" i="1"/>
              <a:t>Java Virtual Machine</a:t>
            </a:r>
            <a:r>
              <a:rPr lang="en-US" altLang="en-US" sz="200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>
            <a:extLst>
              <a:ext uri="{FF2B5EF4-FFF2-40B4-BE49-F238E27FC236}">
                <a16:creationId xmlns:a16="http://schemas.microsoft.com/office/drawing/2014/main" id="{360EBF33-4F5C-4EE4-A80B-4891E250F9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DBFA8B91-12D7-4F9F-9DB0-C8CF0A15AC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1165C0D-0D1B-4D9D-9A28-D9B46A20E378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E973397-86C4-4DBE-99C3-E86B4AFC6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1524000"/>
          </a:xfrm>
        </p:spPr>
        <p:txBody>
          <a:bodyPr/>
          <a:lstStyle/>
          <a:p>
            <a:pPr eaLnBrk="1" hangingPunct="1"/>
            <a:r>
              <a:rPr lang="en-US" altLang="en-US"/>
              <a:t>Hybrid Implementation Process</a:t>
            </a:r>
          </a:p>
        </p:txBody>
      </p:sp>
      <p:pic>
        <p:nvPicPr>
          <p:cNvPr id="37893" name="Picture 4">
            <a:extLst>
              <a:ext uri="{FF2B5EF4-FFF2-40B4-BE49-F238E27FC236}">
                <a16:creationId xmlns:a16="http://schemas.microsoft.com/office/drawing/2014/main" id="{EF29F70F-1910-441D-8152-30E4B9088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95400"/>
            <a:ext cx="18192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CF75FE17-859B-4C52-8DAD-CB64834EFC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2B1DF2A3-26FA-47C0-BF5F-D382439101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3E51BD0-5D9C-41C8-A4BD-13DEEEF21F82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17CD4691-C68C-4080-B81C-590D48A99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70761"/>
            <a:ext cx="8153400" cy="12192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Just-in-Time (JIT) Implementation Systems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2B85E194-1B47-4C6A-B7EC-A032E0505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Typically, an implementation using JIT initially translates a program to bytecode (Ahead-of-Time compilation) like a hybrid implementation</a:t>
            </a:r>
          </a:p>
          <a:p>
            <a:pPr eaLnBrk="1" hangingPunct="1"/>
            <a:r>
              <a:rPr lang="en-US" altLang="en-US" sz="2400" dirty="0"/>
              <a:t>Then, as the program is executing (via a bytecode interpreter), the implementation might run a JIT compiler to convert portions </a:t>
            </a:r>
            <a:r>
              <a:rPr lang="en-US" altLang="en-US" sz="2400"/>
              <a:t>of the bytecode </a:t>
            </a:r>
            <a:r>
              <a:rPr lang="en-US" altLang="en-US" sz="2400" dirty="0"/>
              <a:t>into machine code to improve execution speed</a:t>
            </a:r>
          </a:p>
          <a:p>
            <a:pPr lvl="1" eaLnBrk="1" hangingPunct="1"/>
            <a:r>
              <a:rPr lang="en-US" altLang="en-US" sz="2000" dirty="0"/>
              <a:t>Machine code is cached for subsequent use</a:t>
            </a:r>
          </a:p>
          <a:p>
            <a:pPr eaLnBrk="1" hangingPunct="1"/>
            <a:r>
              <a:rPr lang="en-US" altLang="en-US" sz="2400" dirty="0"/>
              <a:t>JIT systems are widely used for Java programs</a:t>
            </a:r>
          </a:p>
          <a:p>
            <a:pPr eaLnBrk="1" hangingPunct="1"/>
            <a:r>
              <a:rPr lang="en-US" altLang="en-US" sz="2400" dirty="0"/>
              <a:t>.NET languages are implemented with a JIT system</a:t>
            </a:r>
          </a:p>
          <a:p>
            <a:pPr eaLnBrk="1" hangingPunct="1"/>
            <a:r>
              <a:rPr lang="en-US" altLang="en-US" sz="2400" dirty="0"/>
              <a:t>In essence, JIT systems are delayed compilers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931BE6D0-3B13-4805-BC1D-59EC38F7F5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40963" name="Slide Number Placeholder 4">
            <a:extLst>
              <a:ext uri="{FF2B5EF4-FFF2-40B4-BE49-F238E27FC236}">
                <a16:creationId xmlns:a16="http://schemas.microsoft.com/office/drawing/2014/main" id="{4A3D479F-5DA5-409D-916D-3F7B4DB78E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DAD35DB-150D-43CD-8D0B-BB888C8678CD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A99A51BE-1134-4F3B-8550-760443BBB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Preprocessors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4BC2A848-A1F7-4C30-AA1F-948BA32CB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Preprocessor </a:t>
            </a:r>
            <a:r>
              <a:rPr lang="en-US" altLang="en-US" dirty="0"/>
              <a:t>modifies a program before it is compiled</a:t>
            </a:r>
          </a:p>
          <a:p>
            <a:pPr lvl="1" eaLnBrk="1" hangingPunct="1"/>
            <a:r>
              <a:rPr lang="en-US" altLang="en-US" dirty="0"/>
              <a:t>Example</a:t>
            </a:r>
            <a:r>
              <a:rPr lang="en-US" altLang="en-US" b="1" dirty="0"/>
              <a:t>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myFile.h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/>
              <a:t> in C is replaced with contents of file </a:t>
            </a:r>
            <a:r>
              <a:rPr lang="en-US" altLang="en-US" dirty="0" err="1"/>
              <a:t>myFile.h</a:t>
            </a:r>
            <a:endParaRPr lang="en-US" altLang="en-US" dirty="0"/>
          </a:p>
          <a:p>
            <a:pPr eaLnBrk="1" hangingPunct="1"/>
            <a:r>
              <a:rPr lang="en-US" altLang="en-US" b="1" dirty="0"/>
              <a:t>Macros</a:t>
            </a:r>
            <a:r>
              <a:rPr lang="en-US" altLang="en-US" dirty="0"/>
              <a:t> are templates that are replaced with code; can be done by preprocessor</a:t>
            </a:r>
          </a:p>
          <a:p>
            <a:pPr lvl="1" eaLnBrk="1" hangingPunct="1"/>
            <a:r>
              <a:rPr lang="en-US" altLang="en-US" dirty="0"/>
              <a:t>Example: 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20992-22B7-44B2-A05E-0DD5A9320C6A}"/>
              </a:ext>
            </a:extLst>
          </p:cNvPr>
          <p:cNvSpPr txBox="1"/>
          <p:nvPr/>
        </p:nvSpPr>
        <p:spPr>
          <a:xfrm>
            <a:off x="867775" y="4572000"/>
            <a:ext cx="77428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max(A, B) ((A) &gt; (B) ? (A) : (B))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...</a:t>
            </a:r>
          </a:p>
          <a:p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x = max(2 * y, z / 1.73);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// becomes...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((2 * y) &gt; (z / 1.73) ?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(2 * y) : (z / 1.73);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B5C9FD64-9170-4199-A9D7-A4847799F6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41987" name="Slide Number Placeholder 4">
            <a:extLst>
              <a:ext uri="{FF2B5EF4-FFF2-40B4-BE49-F238E27FC236}">
                <a16:creationId xmlns:a16="http://schemas.microsoft.com/office/drawing/2014/main" id="{2E66E14A-B379-455C-848B-DDFBC95F09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BC6F7C5-31E8-4CE4-8436-B9AD77E42B64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AC9A991C-5C56-4CB7-99EC-0A49256B5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Environments</a:t>
            </a: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A8667444-29B6-4641-9844-54C30FBB4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 collection of tools used in software development</a:t>
            </a:r>
          </a:p>
          <a:p>
            <a:pPr eaLnBrk="1" hangingPunct="1"/>
            <a:r>
              <a:rPr lang="en-US" altLang="en-US" sz="2400" dirty="0"/>
              <a:t>UNIX/Linux command line (CLI)</a:t>
            </a:r>
            <a:endParaRPr lang="en-US" altLang="en-US" sz="1300" dirty="0"/>
          </a:p>
          <a:p>
            <a:pPr lvl="1" eaLnBrk="1" hangingPunct="1"/>
            <a:r>
              <a:rPr lang="en-US" altLang="en-US" sz="2000" dirty="0"/>
              <a:t>simple editor for writing code</a:t>
            </a:r>
          </a:p>
          <a:p>
            <a:pPr lvl="1" eaLnBrk="1" hangingPunct="1"/>
            <a:r>
              <a:rPr lang="en-US" altLang="en-US" sz="2000" dirty="0"/>
              <a:t>enter commands to compile and run program</a:t>
            </a:r>
          </a:p>
          <a:p>
            <a:pPr lvl="1" eaLnBrk="1" hangingPunct="1"/>
            <a:r>
              <a:rPr lang="en-US" altLang="en-US" sz="2000" dirty="0"/>
              <a:t>write "</a:t>
            </a:r>
            <a:r>
              <a:rPr lang="en-US" altLang="en-US" sz="2000" dirty="0" err="1"/>
              <a:t>makefile</a:t>
            </a:r>
            <a:r>
              <a:rPr lang="en-US" altLang="en-US" sz="2000" dirty="0"/>
              <a:t>" for telling the "linker" what object and library files to use to create an "executable"</a:t>
            </a:r>
          </a:p>
          <a:p>
            <a:pPr eaLnBrk="1" hangingPunct="1"/>
            <a:r>
              <a:rPr lang="en-US" altLang="en-US" sz="2400" dirty="0"/>
              <a:t>Integrated development environments (IDEs)</a:t>
            </a:r>
          </a:p>
          <a:p>
            <a:pPr lvl="1" eaLnBrk="1" hangingPunct="1"/>
            <a:r>
              <a:rPr lang="en-US" altLang="en-US" sz="1600" dirty="0"/>
              <a:t>Typically perform syntax analysis as code is entered and immediately identify syntax (compile) errors</a:t>
            </a:r>
          </a:p>
          <a:p>
            <a:pPr lvl="1" eaLnBrk="1" hangingPunct="1"/>
            <a:r>
              <a:rPr lang="en-US" altLang="en-US" sz="1600" dirty="0"/>
              <a:t>Simplify the compilation/execution process; often a single Run button</a:t>
            </a:r>
          </a:p>
          <a:p>
            <a:pPr lvl="1" eaLnBrk="1" hangingPunct="1"/>
            <a:endParaRPr lang="en-US" alt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AA70C2F1-0D96-4C3F-952F-EF1A2E066C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Copyright © 2009 Addison-Wesley. All rights reserved.</a:t>
            </a:r>
          </a:p>
        </p:txBody>
      </p:sp>
      <p:sp>
        <p:nvSpPr>
          <p:cNvPr id="43011" name="Slide Number Placeholder 4">
            <a:extLst>
              <a:ext uri="{FF2B5EF4-FFF2-40B4-BE49-F238E27FC236}">
                <a16:creationId xmlns:a16="http://schemas.microsoft.com/office/drawing/2014/main" id="{42CAC121-5650-4C70-BCAF-0EFA125FF3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8CCBE57-4713-4000-832D-F3FE48A63A3A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A1805F4A-F2CF-4E7F-AE93-5DD860D04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32DCA446-6126-4F50-BF3B-7BCB0A130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The study of programming languages is valuable for a number of reasons: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Increase our capacity to use different constructs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Enable us to choose languages more intelligently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Makes learning new languages easier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Most important criteria for evaluating programming languages include: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Readability, writability, reliability, cost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Major influences on language design have been machine architecture and software development methodologies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The major methods of implementing programming languages are: compilation, pure interpretation, and hybrid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besta">
  <a:themeElements>
    <a:clrScheme name="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10950</TotalTime>
  <Words>3006</Words>
  <Application>Microsoft Office PowerPoint</Application>
  <PresentationFormat>On-screen Show (4:3)</PresentationFormat>
  <Paragraphs>387</Paragraphs>
  <Slides>40</Slides>
  <Notes>35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Courier</vt:lpstr>
      <vt:lpstr>Courier New</vt:lpstr>
      <vt:lpstr>Lucida Sans Unicode</vt:lpstr>
      <vt:lpstr>Times</vt:lpstr>
      <vt:lpstr>sebesta</vt:lpstr>
      <vt:lpstr>Chapter 1</vt:lpstr>
      <vt:lpstr>Just so you know...</vt:lpstr>
      <vt:lpstr>Chapter 1 Topics</vt:lpstr>
      <vt:lpstr>Reasons for Studying Concepts of Programming Languages</vt:lpstr>
      <vt:lpstr>Speaking of most popular languages...</vt:lpstr>
      <vt:lpstr>Speaking of most popular languages...</vt:lpstr>
      <vt:lpstr>Some Programming Domains</vt:lpstr>
      <vt:lpstr>Some Programming Domains</vt:lpstr>
      <vt:lpstr>Language Evaluation Criteria</vt:lpstr>
      <vt:lpstr>PowerPoint Presentation</vt:lpstr>
      <vt:lpstr>Evaluation Criteria: Readability</vt:lpstr>
      <vt:lpstr>Evaluation Criteria: Readability</vt:lpstr>
      <vt:lpstr>Orthogonality</vt:lpstr>
      <vt:lpstr>Evaluation Criteria: Readability</vt:lpstr>
      <vt:lpstr>Evaluation Criteria: Writability</vt:lpstr>
      <vt:lpstr>Evaluation Criteria: Reliability</vt:lpstr>
      <vt:lpstr>Evaluation Criteria: Cost</vt:lpstr>
      <vt:lpstr>Evaluation Criteria: Others</vt:lpstr>
      <vt:lpstr>Language Design Trade-Offs</vt:lpstr>
      <vt:lpstr>Language Categories</vt:lpstr>
      <vt:lpstr>Influences on Language Design</vt:lpstr>
      <vt:lpstr>Programming Methodologies Influences</vt:lpstr>
      <vt:lpstr>Computer Architecture Influence</vt:lpstr>
      <vt:lpstr>The von Neumann Architecture</vt:lpstr>
      <vt:lpstr>The von Neumann Architecture</vt:lpstr>
      <vt:lpstr>Computer Architecture Influence</vt:lpstr>
      <vt:lpstr>Language Implementation Methods</vt:lpstr>
      <vt:lpstr>Layered View of Computer</vt:lpstr>
      <vt:lpstr>Compilation</vt:lpstr>
      <vt:lpstr>The Compilation Process</vt:lpstr>
      <vt:lpstr>Additional Compilation Terminologies</vt:lpstr>
      <vt:lpstr>Von Neumann Bottleneck</vt:lpstr>
      <vt:lpstr>Pure Interpretation</vt:lpstr>
      <vt:lpstr>Pure Interpretation Process</vt:lpstr>
      <vt:lpstr>Hybrid Implementation Systems</vt:lpstr>
      <vt:lpstr>Hybrid Implementation Process</vt:lpstr>
      <vt:lpstr>Just-in-Time (JIT) Implementation Systems</vt:lpstr>
      <vt:lpstr>Preprocessors</vt:lpstr>
      <vt:lpstr>Programming Environments</vt:lpstr>
      <vt:lpstr>Summary</vt:lpstr>
    </vt:vector>
  </TitlesOfParts>
  <Company>Pearson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Jeff Jackson</cp:lastModifiedBy>
  <cp:revision>132</cp:revision>
  <dcterms:created xsi:type="dcterms:W3CDTF">2003-08-01T12:29:19Z</dcterms:created>
  <dcterms:modified xsi:type="dcterms:W3CDTF">2025-08-30T21:47:56Z</dcterms:modified>
</cp:coreProperties>
</file>